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62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</p:sldIdLst>
  <p:sldSz cx="9144000" cy="5143500" type="screen16x9"/>
  <p:notesSz cx="6858000" cy="9144000"/>
  <p:embeddedFontLst>
    <p:embeddedFont>
      <p:font typeface="Microsoft YaHei" panose="020B0503020204020204" pitchFamily="34" charset="-122"/>
      <p:regular r:id="rId16"/>
      <p:bold r:id="rId17"/>
    </p:embeddedFont>
    <p:embeddedFont>
      <p:font typeface="Cambria Math" panose="02040503050406030204" pitchFamily="18" charset="0"/>
      <p:regular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682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e538fbc5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5e538fbc5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8CD34E49-4020-BA70-7D72-D02976BC7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5e538fbc50_0_60:notes">
            <a:extLst>
              <a:ext uri="{FF2B5EF4-FFF2-40B4-BE49-F238E27FC236}">
                <a16:creationId xmlns:a16="http://schemas.microsoft.com/office/drawing/2014/main" id="{5CEBF630-DAD4-AB74-12E6-0A78220D38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g35e538fbc50_0_60:notes">
            <a:extLst>
              <a:ext uri="{FF2B5EF4-FFF2-40B4-BE49-F238E27FC236}">
                <a16:creationId xmlns:a16="http://schemas.microsoft.com/office/drawing/2014/main" id="{B2B9169A-5CCA-618B-08B2-3304CE7C08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9338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453ED83-EC97-02FE-86F8-9D816C88F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e538fbc50_0_0:notes">
            <a:extLst>
              <a:ext uri="{FF2B5EF4-FFF2-40B4-BE49-F238E27FC236}">
                <a16:creationId xmlns:a16="http://schemas.microsoft.com/office/drawing/2014/main" id="{EC088CCD-E1CB-8E28-21BB-A3713CB98F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5e538fbc50_0_0:notes">
            <a:extLst>
              <a:ext uri="{FF2B5EF4-FFF2-40B4-BE49-F238E27FC236}">
                <a16:creationId xmlns:a16="http://schemas.microsoft.com/office/drawing/2014/main" id="{6E8DFAC1-806F-D949-70FC-5F7E7A3DA2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3653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538976" y="2103037"/>
            <a:ext cx="8259336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" sz="3600" b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altLang="zh-CN" sz="3600" b="1">
                <a:solidFill>
                  <a:schemeClr val="tx1"/>
                </a:solidFill>
                <a:latin typeface="Aptos"/>
              </a:rPr>
              <a:t>The Entanglers</a:t>
            </a:r>
            <a:endParaRPr sz="3600" b="1">
              <a:solidFill>
                <a:schemeClr val="tx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 i="1">
              <a:solidFill>
                <a:schemeClr val="tx1"/>
              </a:solidFill>
              <a:latin typeface="Roboto"/>
              <a:ea typeface="Roboto"/>
              <a:cs typeface="Roboto"/>
              <a:sym typeface="Roboto"/>
            </a:endParaRPr>
          </a:p>
          <a:p>
            <a:r>
              <a:rPr lang="en-US" altLang="zh-CN" sz="3600" b="1">
                <a:solidFill>
                  <a:schemeClr val="tx1"/>
                </a:solidFill>
                <a:latin typeface="Aptos"/>
              </a:rPr>
              <a:t>Quantum-Boosted Channel Allocation</a:t>
            </a:r>
            <a:endParaRPr lang="en-US" altLang="zh-CN" sz="3600" b="1" dirty="0">
              <a:solidFill>
                <a:schemeClr val="tx1"/>
              </a:solidFill>
              <a:latin typeface="Aptos"/>
            </a:endParaRPr>
          </a:p>
        </p:txBody>
      </p:sp>
      <p:pic>
        <p:nvPicPr>
          <p:cNvPr id="56" name="Google Shape;56;p13" title="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98504" y="76201"/>
            <a:ext cx="2369296" cy="1108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00" y="76200"/>
            <a:ext cx="2369301" cy="904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Connector 7">
            <a:extLst>
              <a:ext uri="{FF2B5EF4-FFF2-40B4-BE49-F238E27FC236}">
                <a16:creationId xmlns:a16="http://schemas.microsoft.com/office/drawing/2014/main" id="{AF2D7F63-FA8C-E152-E033-2F62C335EF98}"/>
              </a:ext>
            </a:extLst>
          </p:cNvPr>
          <p:cNvCxnSpPr/>
          <p:nvPr/>
        </p:nvCxnSpPr>
        <p:spPr>
          <a:xfrm flipV="1">
            <a:off x="4109315" y="1059316"/>
            <a:ext cx="473203" cy="294437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8">
            <a:extLst>
              <a:ext uri="{FF2B5EF4-FFF2-40B4-BE49-F238E27FC236}">
                <a16:creationId xmlns:a16="http://schemas.microsoft.com/office/drawing/2014/main" id="{386112EC-0AEB-608E-0C55-AFC5075C126C}"/>
              </a:ext>
            </a:extLst>
          </p:cNvPr>
          <p:cNvCxnSpPr/>
          <p:nvPr/>
        </p:nvCxnSpPr>
        <p:spPr>
          <a:xfrm>
            <a:off x="4582518" y="1059316"/>
            <a:ext cx="452170" cy="336500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9">
            <a:extLst>
              <a:ext uri="{FF2B5EF4-FFF2-40B4-BE49-F238E27FC236}">
                <a16:creationId xmlns:a16="http://schemas.microsoft.com/office/drawing/2014/main" id="{3378247B-909D-1586-40A1-D84D03F2E8E2}"/>
              </a:ext>
            </a:extLst>
          </p:cNvPr>
          <p:cNvCxnSpPr/>
          <p:nvPr/>
        </p:nvCxnSpPr>
        <p:spPr>
          <a:xfrm flipH="1">
            <a:off x="4593033" y="1395816"/>
            <a:ext cx="441655" cy="378561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10">
            <a:extLst>
              <a:ext uri="{FF2B5EF4-FFF2-40B4-BE49-F238E27FC236}">
                <a16:creationId xmlns:a16="http://schemas.microsoft.com/office/drawing/2014/main" id="{4274ABE3-DF9B-0B97-AB18-1557032D104C}"/>
              </a:ext>
            </a:extLst>
          </p:cNvPr>
          <p:cNvCxnSpPr/>
          <p:nvPr/>
        </p:nvCxnSpPr>
        <p:spPr>
          <a:xfrm flipH="1" flipV="1">
            <a:off x="4109315" y="1353753"/>
            <a:ext cx="483718" cy="420624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11">
            <a:extLst>
              <a:ext uri="{FF2B5EF4-FFF2-40B4-BE49-F238E27FC236}">
                <a16:creationId xmlns:a16="http://schemas.microsoft.com/office/drawing/2014/main" id="{B7B63B89-02D1-74D9-F6B9-50E54BD343D9}"/>
              </a:ext>
            </a:extLst>
          </p:cNvPr>
          <p:cNvCxnSpPr/>
          <p:nvPr/>
        </p:nvCxnSpPr>
        <p:spPr>
          <a:xfrm>
            <a:off x="4109315" y="1353753"/>
            <a:ext cx="925373" cy="42063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12">
            <a:extLst>
              <a:ext uri="{FF2B5EF4-FFF2-40B4-BE49-F238E27FC236}">
                <a16:creationId xmlns:a16="http://schemas.microsoft.com/office/drawing/2014/main" id="{0E838F14-3932-069C-6E45-44E8EC38E8AD}"/>
              </a:ext>
            </a:extLst>
          </p:cNvPr>
          <p:cNvCxnSpPr/>
          <p:nvPr/>
        </p:nvCxnSpPr>
        <p:spPr>
          <a:xfrm>
            <a:off x="4582518" y="1059316"/>
            <a:ext cx="10515" cy="715061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13">
            <a:extLst>
              <a:ext uri="{FF2B5EF4-FFF2-40B4-BE49-F238E27FC236}">
                <a16:creationId xmlns:a16="http://schemas.microsoft.com/office/drawing/2014/main" id="{C0642D13-96AF-61B0-2FBE-AD695846E530}"/>
              </a:ext>
            </a:extLst>
          </p:cNvPr>
          <p:cNvSpPr/>
          <p:nvPr/>
        </p:nvSpPr>
        <p:spPr>
          <a:xfrm>
            <a:off x="4030449" y="1274886"/>
            <a:ext cx="157734" cy="157734"/>
          </a:xfrm>
          <a:prstGeom prst="ellipse">
            <a:avLst/>
          </a:prstGeom>
          <a:solidFill>
            <a:srgbClr val="00A3A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4">
            <a:extLst>
              <a:ext uri="{FF2B5EF4-FFF2-40B4-BE49-F238E27FC236}">
                <a16:creationId xmlns:a16="http://schemas.microsoft.com/office/drawing/2014/main" id="{070F3E76-B6F0-0009-EFA9-ABA215B20960}"/>
              </a:ext>
            </a:extLst>
          </p:cNvPr>
          <p:cNvSpPr/>
          <p:nvPr/>
        </p:nvSpPr>
        <p:spPr>
          <a:xfrm>
            <a:off x="4503651" y="980450"/>
            <a:ext cx="157734" cy="157734"/>
          </a:xfrm>
          <a:prstGeom prst="ellipse">
            <a:avLst/>
          </a:prstGeom>
          <a:solidFill>
            <a:srgbClr val="E28232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5">
            <a:extLst>
              <a:ext uri="{FF2B5EF4-FFF2-40B4-BE49-F238E27FC236}">
                <a16:creationId xmlns:a16="http://schemas.microsoft.com/office/drawing/2014/main" id="{1DDA2442-977C-E220-7850-BA76D178771C}"/>
              </a:ext>
            </a:extLst>
          </p:cNvPr>
          <p:cNvSpPr/>
          <p:nvPr/>
        </p:nvSpPr>
        <p:spPr>
          <a:xfrm>
            <a:off x="4955821" y="1316949"/>
            <a:ext cx="157734" cy="157734"/>
          </a:xfrm>
          <a:prstGeom prst="ellipse">
            <a:avLst/>
          </a:prstGeom>
          <a:solidFill>
            <a:srgbClr val="379C68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6">
            <a:extLst>
              <a:ext uri="{FF2B5EF4-FFF2-40B4-BE49-F238E27FC236}">
                <a16:creationId xmlns:a16="http://schemas.microsoft.com/office/drawing/2014/main" id="{6AE91229-F2C9-4556-4172-DD2C5CA461AF}"/>
              </a:ext>
            </a:extLst>
          </p:cNvPr>
          <p:cNvSpPr/>
          <p:nvPr/>
        </p:nvSpPr>
        <p:spPr>
          <a:xfrm>
            <a:off x="4514166" y="1695510"/>
            <a:ext cx="157734" cy="157734"/>
          </a:xfrm>
          <a:prstGeom prst="ellipse">
            <a:avLst/>
          </a:prstGeom>
          <a:solidFill>
            <a:srgbClr val="F6BE4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7">
            <a:extLst>
              <a:ext uri="{FF2B5EF4-FFF2-40B4-BE49-F238E27FC236}">
                <a16:creationId xmlns:a16="http://schemas.microsoft.com/office/drawing/2014/main" id="{AE6DF97A-3BD4-291F-576C-4FF74387CA35}"/>
              </a:ext>
            </a:extLst>
          </p:cNvPr>
          <p:cNvSpPr txBox="1"/>
          <p:nvPr/>
        </p:nvSpPr>
        <p:spPr>
          <a:xfrm>
            <a:off x="4167171" y="1918956"/>
            <a:ext cx="1254532" cy="169598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862" b="1" dirty="0">
                <a:solidFill>
                  <a:schemeClr val="tx1"/>
                </a:solidFill>
                <a:latin typeface="Aptos"/>
              </a:rPr>
              <a:t>The</a:t>
            </a:r>
            <a:r>
              <a:rPr lang="en-US" sz="862" b="1" dirty="0">
                <a:solidFill>
                  <a:schemeClr val="tx1"/>
                </a:solidFill>
                <a:latin typeface="Aptos"/>
              </a:rPr>
              <a:t> </a:t>
            </a:r>
            <a:r>
              <a:rPr sz="862" b="1" dirty="0">
                <a:solidFill>
                  <a:schemeClr val="tx1"/>
                </a:solidFill>
                <a:latin typeface="Aptos"/>
              </a:rPr>
              <a:t>Entanglers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D4B1FBBF-9CEA-E4AE-7000-568E84206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4" title="Logo.png">
            <a:extLst>
              <a:ext uri="{FF2B5EF4-FFF2-40B4-BE49-F238E27FC236}">
                <a16:creationId xmlns:a16="http://schemas.microsoft.com/office/drawing/2014/main" id="{1871962D-3829-5F9C-F516-6446B01689D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33100" y="4632374"/>
            <a:ext cx="903176" cy="422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>
            <a:extLst>
              <a:ext uri="{FF2B5EF4-FFF2-40B4-BE49-F238E27FC236}">
                <a16:creationId xmlns:a16="http://schemas.microsoft.com/office/drawing/2014/main" id="{8360E716-87CB-0275-AD18-21B8ACFF8EC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85" y="4670625"/>
            <a:ext cx="1106765" cy="42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8265CAE5-F7A3-4779-8722-919A6E76280A}"/>
              </a:ext>
            </a:extLst>
          </p:cNvPr>
          <p:cNvSpPr txBox="1"/>
          <p:nvPr/>
        </p:nvSpPr>
        <p:spPr>
          <a:xfrm>
            <a:off x="347472" y="329184"/>
            <a:ext cx="6675120" cy="384048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2200" b="1">
                <a:solidFill>
                  <a:srgbClr val="0C2138"/>
                </a:solidFill>
                <a:latin typeface="Aptos"/>
              </a:rPr>
              <a:t>1. Problem: Dynamic Channel Allocation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C41707-C22C-E394-2DD8-7A15AF22F8BC}"/>
              </a:ext>
            </a:extLst>
          </p:cNvPr>
          <p:cNvSpPr txBox="1"/>
          <p:nvPr/>
        </p:nvSpPr>
        <p:spPr>
          <a:xfrm>
            <a:off x="365760" y="749808"/>
            <a:ext cx="6583680" cy="201168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950" b="0">
                <a:solidFill>
                  <a:srgbClr val="607080"/>
                </a:solidFill>
                <a:latin typeface="Aptos"/>
              </a:rPr>
              <a:t>Dense networks repeatedly solve a weighted graph-coloring problem</a:t>
            </a: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E8C20B78-06B9-F5E0-A513-1816CD95A627}"/>
              </a:ext>
            </a:extLst>
          </p:cNvPr>
          <p:cNvSpPr/>
          <p:nvPr/>
        </p:nvSpPr>
        <p:spPr>
          <a:xfrm>
            <a:off x="384048" y="1024128"/>
            <a:ext cx="3886200" cy="3547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9E96A9D-38C2-6930-0974-02089A03A39A}"/>
              </a:ext>
            </a:extLst>
          </p:cNvPr>
          <p:cNvSpPr/>
          <p:nvPr/>
        </p:nvSpPr>
        <p:spPr>
          <a:xfrm>
            <a:off x="384048" y="1024128"/>
            <a:ext cx="54864" cy="3547872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63BEE961-8498-0575-2390-57E5EF0D4792}"/>
              </a:ext>
            </a:extLst>
          </p:cNvPr>
          <p:cNvSpPr txBox="1"/>
          <p:nvPr/>
        </p:nvSpPr>
        <p:spPr>
          <a:xfrm>
            <a:off x="548640" y="1143000"/>
            <a:ext cx="3630168" cy="228600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1350" b="1" dirty="0">
                <a:solidFill>
                  <a:srgbClr val="0C2138"/>
                </a:solidFill>
                <a:latin typeface="Aptos"/>
              </a:rPr>
              <a:t>Real-world setting</a:t>
            </a:r>
          </a:p>
        </p:txBody>
      </p:sp>
      <p:pic>
        <p:nvPicPr>
          <p:cNvPr id="13" name="Picture 8" descr="demo_cell_03_01.png">
            <a:extLst>
              <a:ext uri="{FF2B5EF4-FFF2-40B4-BE49-F238E27FC236}">
                <a16:creationId xmlns:a16="http://schemas.microsoft.com/office/drawing/2014/main" id="{816D42EC-C4E6-476A-FC18-6492D9EDD3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1508760"/>
            <a:ext cx="3246120" cy="2212848"/>
          </a:xfrm>
          <a:prstGeom prst="rect">
            <a:avLst/>
          </a:prstGeom>
        </p:spPr>
      </p:pic>
      <p:sp>
        <p:nvSpPr>
          <p:cNvPr id="15" name="TextBox 9">
            <a:extLst>
              <a:ext uri="{FF2B5EF4-FFF2-40B4-BE49-F238E27FC236}">
                <a16:creationId xmlns:a16="http://schemas.microsoft.com/office/drawing/2014/main" id="{B26AEF85-2E09-96FC-220F-30A0F98A1CED}"/>
              </a:ext>
            </a:extLst>
          </p:cNvPr>
          <p:cNvSpPr txBox="1"/>
          <p:nvPr/>
        </p:nvSpPr>
        <p:spPr>
          <a:xfrm>
            <a:off x="1024128" y="3913632"/>
            <a:ext cx="2651760" cy="172355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ctr"/>
            <a:r>
              <a:rPr lang="en-US" sz="880" dirty="0">
                <a:solidFill>
                  <a:srgbClr val="607080"/>
                </a:solidFill>
                <a:latin typeface="Aptos"/>
              </a:rPr>
              <a:t>I</a:t>
            </a:r>
            <a:r>
              <a:rPr sz="880" b="0" dirty="0">
                <a:solidFill>
                  <a:srgbClr val="607080"/>
                </a:solidFill>
                <a:latin typeface="Aptos"/>
              </a:rPr>
              <a:t>nterference </a:t>
            </a:r>
            <a:r>
              <a:rPr lang="en-US" altLang="zh-CN" sz="880" dirty="0">
                <a:solidFill>
                  <a:srgbClr val="607080"/>
                </a:solidFill>
                <a:latin typeface="Aptos"/>
              </a:rPr>
              <a:t>G</a:t>
            </a:r>
            <a:r>
              <a:rPr sz="880" b="0" dirty="0">
                <a:solidFill>
                  <a:srgbClr val="607080"/>
                </a:solidFill>
                <a:latin typeface="Aptos"/>
              </a:rPr>
              <a:t>raph</a:t>
            </a:r>
          </a:p>
        </p:txBody>
      </p:sp>
      <p:sp>
        <p:nvSpPr>
          <p:cNvPr id="17" name="Rounded Rectangle 10">
            <a:extLst>
              <a:ext uri="{FF2B5EF4-FFF2-40B4-BE49-F238E27FC236}">
                <a16:creationId xmlns:a16="http://schemas.microsoft.com/office/drawing/2014/main" id="{9AD61EDD-B5CE-63C0-8E39-2E6E934C0534}"/>
              </a:ext>
            </a:extLst>
          </p:cNvPr>
          <p:cNvSpPr/>
          <p:nvPr/>
        </p:nvSpPr>
        <p:spPr>
          <a:xfrm>
            <a:off x="4572000" y="1024128"/>
            <a:ext cx="4160520" cy="3547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C2F4D681-4261-5636-819E-33A96CD2E86B}"/>
              </a:ext>
            </a:extLst>
          </p:cNvPr>
          <p:cNvSpPr/>
          <p:nvPr/>
        </p:nvSpPr>
        <p:spPr>
          <a:xfrm>
            <a:off x="4572000" y="1024128"/>
            <a:ext cx="54864" cy="3547872"/>
          </a:xfrm>
          <a:prstGeom prst="rect">
            <a:avLst/>
          </a:prstGeom>
          <a:solidFill>
            <a:srgbClr val="E2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id="{E3FC2F9E-D4AB-0695-089F-FB6A88C5E67C}"/>
              </a:ext>
            </a:extLst>
          </p:cNvPr>
          <p:cNvSpPr txBox="1"/>
          <p:nvPr/>
        </p:nvSpPr>
        <p:spPr>
          <a:xfrm>
            <a:off x="4736592" y="1143000"/>
            <a:ext cx="3904488" cy="228600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1350" b="1">
                <a:solidFill>
                  <a:srgbClr val="0C2138"/>
                </a:solidFill>
                <a:latin typeface="Aptos"/>
              </a:rPr>
              <a:t>Optimization objective</a:t>
            </a:r>
          </a:p>
        </p:txBody>
      </p:sp>
      <p:sp>
        <p:nvSpPr>
          <p:cNvPr id="23" name="TextBox 13">
            <a:extLst>
              <a:ext uri="{FF2B5EF4-FFF2-40B4-BE49-F238E27FC236}">
                <a16:creationId xmlns:a16="http://schemas.microsoft.com/office/drawing/2014/main" id="{78EBBC5D-AB3D-D6A6-7C53-5C78BC76A144}"/>
              </a:ext>
            </a:extLst>
          </p:cNvPr>
          <p:cNvSpPr txBox="1"/>
          <p:nvPr/>
        </p:nvSpPr>
        <p:spPr>
          <a:xfrm>
            <a:off x="4800600" y="1444752"/>
            <a:ext cx="3566160" cy="2148840"/>
          </a:xfrm>
          <a:prstGeom prst="rect">
            <a:avLst/>
          </a:prstGeom>
          <a:noFill/>
        </p:spPr>
        <p:txBody>
          <a:bodyPr wrap="square" lIns="36576" tIns="9144" rIns="27432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1E2935"/>
                </a:solidFill>
                <a:latin typeface="Aptos"/>
              </a:defRPr>
            </a:pPr>
            <a:r>
              <a:rPr dirty="0"/>
              <a:t>Nodes are small-cell base stations; colors are channels.</a:t>
            </a:r>
          </a:p>
          <a:p>
            <a:pPr>
              <a:spcAft>
                <a:spcPts val="300"/>
              </a:spcAft>
              <a:defRPr sz="1080">
                <a:solidFill>
                  <a:srgbClr val="1E2935"/>
                </a:solidFill>
                <a:latin typeface="Aptos"/>
              </a:defRPr>
            </a:pPr>
            <a:r>
              <a:rPr dirty="0"/>
              <a:t>An edge means two cells interfere if they reuse one channel.</a:t>
            </a:r>
          </a:p>
          <a:p>
            <a:pPr>
              <a:spcAft>
                <a:spcPts val="300"/>
              </a:spcAft>
              <a:defRPr sz="1080">
                <a:solidFill>
                  <a:srgbClr val="1E2935"/>
                </a:solidFill>
                <a:latin typeface="Aptos"/>
              </a:defRPr>
            </a:pPr>
            <a:r>
              <a:rPr dirty="0"/>
              <a:t>Edge weights measure coupling strength, so closer cells are penalized more.</a:t>
            </a:r>
          </a:p>
          <a:p>
            <a:pPr>
              <a:spcAft>
                <a:spcPts val="300"/>
              </a:spcAft>
              <a:defRPr sz="1080">
                <a:solidFill>
                  <a:srgbClr val="1E2935"/>
                </a:solidFill>
                <a:latin typeface="Aptos"/>
              </a:defRPr>
            </a:pPr>
            <a:r>
              <a:rPr dirty="0"/>
              <a:t>Goal: assign one channel per cell and minimize total weighted co-channel interference.</a:t>
            </a:r>
          </a:p>
          <a:p>
            <a:pPr>
              <a:spcAft>
                <a:spcPts val="300"/>
              </a:spcAft>
              <a:defRPr sz="1080">
                <a:solidFill>
                  <a:srgbClr val="1E2935"/>
                </a:solidFill>
                <a:latin typeface="Aptos"/>
              </a:defRPr>
            </a:pPr>
            <a:r>
              <a:rPr dirty="0"/>
              <a:t>Mobility changes positions/traffic, so the graph becomes a sequence of snapshots.</a:t>
            </a:r>
          </a:p>
        </p:txBody>
      </p:sp>
      <p:sp>
        <p:nvSpPr>
          <p:cNvPr id="25" name="TextBox 14">
            <a:extLst>
              <a:ext uri="{FF2B5EF4-FFF2-40B4-BE49-F238E27FC236}">
                <a16:creationId xmlns:a16="http://schemas.microsoft.com/office/drawing/2014/main" id="{FF4663D6-1A43-A9DA-36F3-F65D88326456}"/>
              </a:ext>
            </a:extLst>
          </p:cNvPr>
          <p:cNvSpPr txBox="1"/>
          <p:nvPr/>
        </p:nvSpPr>
        <p:spPr>
          <a:xfrm>
            <a:off x="4892040" y="3913632"/>
            <a:ext cx="3474720" cy="219456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ctr"/>
            <a:r>
              <a:rPr sz="1200" b="1" dirty="0">
                <a:solidFill>
                  <a:srgbClr val="00707A"/>
                </a:solidFill>
                <a:latin typeface="Aptos"/>
              </a:rPr>
              <a:t>min  Σ </a:t>
            </a:r>
            <a:r>
              <a:rPr sz="1200" b="1" dirty="0" err="1">
                <a:solidFill>
                  <a:srgbClr val="00707A"/>
                </a:solidFill>
                <a:latin typeface="Aptos"/>
              </a:rPr>
              <a:t>w_uv</a:t>
            </a:r>
            <a:r>
              <a:rPr sz="1200" b="1" dirty="0">
                <a:solidFill>
                  <a:srgbClr val="00707A"/>
                </a:solidFill>
                <a:latin typeface="Aptos"/>
              </a:rPr>
              <a:t> · 1[channel(u)=channel(v)]</a:t>
            </a: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C9411294-693A-D7EE-308A-7622356ACD79}"/>
              </a:ext>
            </a:extLst>
          </p:cNvPr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ight Triangle 2">
            <a:extLst>
              <a:ext uri="{FF2B5EF4-FFF2-40B4-BE49-F238E27FC236}">
                <a16:creationId xmlns:a16="http://schemas.microsoft.com/office/drawing/2014/main" id="{C6C7275D-52A6-47BA-FB22-FD6F791EC481}"/>
              </a:ext>
            </a:extLst>
          </p:cNvPr>
          <p:cNvSpPr/>
          <p:nvPr/>
        </p:nvSpPr>
        <p:spPr>
          <a:xfrm>
            <a:off x="7818120" y="0"/>
            <a:ext cx="1325880" cy="1325880"/>
          </a:xfrm>
          <a:prstGeom prst="rtTriangle">
            <a:avLst/>
          </a:prstGeom>
          <a:solidFill>
            <a:srgbClr val="DF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704909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329184"/>
            <a:ext cx="6675120" cy="384048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2200" b="1">
                <a:solidFill>
                  <a:srgbClr val="0C2138"/>
                </a:solidFill>
                <a:latin typeface="Aptos"/>
              </a:rPr>
              <a:t>2. Mapping to QUBO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6583680" cy="201168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950" b="0">
                <a:solidFill>
                  <a:srgbClr val="607080"/>
                </a:solidFill>
                <a:latin typeface="Aptos"/>
              </a:rPr>
              <a:t>The communication task becomes a quantum-optimization-ready objective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15568"/>
            <a:ext cx="36576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115568"/>
            <a:ext cx="54864" cy="3291840"/>
          </a:xfrm>
          <a:prstGeom prst="rect">
            <a:avLst/>
          </a:prstGeom>
          <a:solidFill>
            <a:srgbClr val="37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234440"/>
            <a:ext cx="3401568" cy="228600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1350" b="1">
                <a:solidFill>
                  <a:srgbClr val="0C2138"/>
                </a:solidFill>
                <a:latin typeface="Aptos"/>
              </a:rPr>
              <a:t>QUBO 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00200"/>
            <a:ext cx="3154680" cy="1325880"/>
          </a:xfrm>
          <a:prstGeom prst="rect">
            <a:avLst/>
          </a:prstGeom>
          <a:noFill/>
        </p:spPr>
        <p:txBody>
          <a:bodyPr wrap="square" lIns="36576" tIns="9144" rIns="27432">
            <a:spAutoFit/>
          </a:bodyPr>
          <a:lstStyle/>
          <a:p>
            <a:pPr>
              <a:spcAft>
                <a:spcPts val="300"/>
              </a:spcAft>
              <a:defRPr sz="1140">
                <a:solidFill>
                  <a:srgbClr val="1E2935"/>
                </a:solidFill>
                <a:latin typeface="Aptos"/>
              </a:defRPr>
            </a:pPr>
            <a:r>
              <a:t>Binary variables represent channel choices.</a:t>
            </a:r>
          </a:p>
          <a:p>
            <a:pPr>
              <a:spcAft>
                <a:spcPts val="300"/>
              </a:spcAft>
              <a:defRPr sz="1140">
                <a:solidFill>
                  <a:srgbClr val="1E2935"/>
                </a:solidFill>
                <a:latin typeface="Aptos"/>
              </a:defRPr>
            </a:pPr>
            <a:r>
              <a:t>Cost terms activate when interfering cells share a channel.</a:t>
            </a:r>
          </a:p>
          <a:p>
            <a:pPr>
              <a:spcAft>
                <a:spcPts val="300"/>
              </a:spcAft>
              <a:defRPr sz="1140">
                <a:solidFill>
                  <a:srgbClr val="1E2935"/>
                </a:solidFill>
                <a:latin typeface="Aptos"/>
              </a:defRPr>
            </a:pPr>
            <a:r>
              <a:t>Penalty terms enforce valid assignments.</a:t>
            </a:r>
          </a:p>
          <a:p>
            <a:pPr>
              <a:spcAft>
                <a:spcPts val="300"/>
              </a:spcAft>
              <a:defRPr sz="1140">
                <a:solidFill>
                  <a:srgbClr val="1E2935"/>
                </a:solidFill>
                <a:latin typeface="Aptos"/>
              </a:defRPr>
            </a:pPr>
            <a:r>
              <a:t>The final form is a quadratic binary objective.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493008"/>
            <a:ext cx="2743200" cy="310896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ctr"/>
            <a:r>
              <a:rPr sz="1900" b="1">
                <a:solidFill>
                  <a:srgbClr val="379C68"/>
                </a:solidFill>
                <a:latin typeface="Aptos"/>
              </a:rPr>
              <a:t>xᵀQx + penalties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1115568"/>
            <a:ext cx="36576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937760" y="1115568"/>
            <a:ext cx="54864" cy="3291840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02352" y="1234440"/>
            <a:ext cx="3401568" cy="228600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1350" b="1">
                <a:solidFill>
                  <a:srgbClr val="0C2138"/>
                </a:solidFill>
                <a:latin typeface="Aptos"/>
              </a:rPr>
              <a:t>Quantum-ready 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1600200"/>
            <a:ext cx="3108960" cy="1051560"/>
          </a:xfrm>
          <a:prstGeom prst="rect">
            <a:avLst/>
          </a:prstGeom>
          <a:noFill/>
        </p:spPr>
        <p:txBody>
          <a:bodyPr wrap="square" lIns="36576" tIns="9144" rIns="27432">
            <a:spAutoFit/>
          </a:bodyPr>
          <a:lstStyle/>
          <a:p>
            <a:pPr>
              <a:spcAft>
                <a:spcPts val="300"/>
              </a:spcAft>
              <a:defRPr sz="1140">
                <a:solidFill>
                  <a:srgbClr val="1E2935"/>
                </a:solidFill>
                <a:latin typeface="Aptos"/>
              </a:defRPr>
            </a:pPr>
            <a:r>
              <a:t>QUBO is easy to convert to an Ising Hamiltonian.</a:t>
            </a:r>
          </a:p>
          <a:p>
            <a:pPr>
              <a:spcAft>
                <a:spcPts val="300"/>
              </a:spcAft>
              <a:defRPr sz="1140">
                <a:solidFill>
                  <a:srgbClr val="1E2935"/>
                </a:solidFill>
                <a:latin typeface="Aptos"/>
              </a:defRPr>
            </a:pPr>
            <a:r>
              <a:t>QAOA directly optimizes the corresponding cost operator.</a:t>
            </a:r>
          </a:p>
          <a:p>
            <a:pPr>
              <a:spcAft>
                <a:spcPts val="300"/>
              </a:spcAft>
              <a:defRPr sz="1140">
                <a:solidFill>
                  <a:srgbClr val="1E2935"/>
                </a:solidFill>
                <a:latin typeface="Aptos"/>
              </a:defRPr>
            </a:pPr>
            <a:r>
              <a:t>Small graphs can be validated against brute force.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15000" y="3364992"/>
            <a:ext cx="1554480" cy="0"/>
          </a:xfrm>
          <a:prstGeom prst="line">
            <a:avLst/>
          </a:prstGeom>
          <a:ln w="12700">
            <a:solidFill>
              <a:srgbClr val="91A4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15000" y="3584448"/>
            <a:ext cx="1554480" cy="0"/>
          </a:xfrm>
          <a:prstGeom prst="line">
            <a:avLst/>
          </a:prstGeom>
          <a:ln w="12700">
            <a:solidFill>
              <a:srgbClr val="91A4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15000" y="3803904"/>
            <a:ext cx="1554480" cy="0"/>
          </a:xfrm>
          <a:prstGeom prst="line">
            <a:avLst/>
          </a:prstGeom>
          <a:ln w="12700">
            <a:solidFill>
              <a:srgbClr val="91A4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715000" y="4023360"/>
            <a:ext cx="1554480" cy="0"/>
          </a:xfrm>
          <a:prstGeom prst="line">
            <a:avLst/>
          </a:prstGeom>
          <a:ln w="12700">
            <a:solidFill>
              <a:srgbClr val="91A4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989320" y="3291840"/>
            <a:ext cx="201168" cy="146304"/>
          </a:xfrm>
          <a:prstGeom prst="round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89320" y="3314700"/>
            <a:ext cx="201168" cy="73152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ctr"/>
            <a:r>
              <a:rPr sz="459" b="1">
                <a:solidFill>
                  <a:srgbClr val="FFFFFF"/>
                </a:solidFill>
                <a:latin typeface="Aptos"/>
              </a:rPr>
              <a:t>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3511295"/>
            <a:ext cx="201168" cy="146304"/>
          </a:xfrm>
          <a:prstGeom prst="round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89320" y="3534156"/>
            <a:ext cx="201168" cy="73152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ctr"/>
            <a:r>
              <a:rPr sz="459" b="1">
                <a:solidFill>
                  <a:srgbClr val="FFFFFF"/>
                </a:solidFill>
                <a:latin typeface="Aptos"/>
              </a:rPr>
              <a:t>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3730751"/>
            <a:ext cx="201168" cy="146304"/>
          </a:xfrm>
          <a:prstGeom prst="round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89320" y="3753612"/>
            <a:ext cx="201168" cy="73152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ctr"/>
            <a:r>
              <a:rPr sz="459" b="1">
                <a:solidFill>
                  <a:srgbClr val="FFFFFF"/>
                </a:solidFill>
                <a:latin typeface="Aptos"/>
              </a:rPr>
              <a:t>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9320" y="3950208"/>
            <a:ext cx="201168" cy="146304"/>
          </a:xfrm>
          <a:prstGeom prst="round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89320" y="3973067"/>
            <a:ext cx="201168" cy="73152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ctr"/>
            <a:r>
              <a:rPr sz="459" b="1">
                <a:solidFill>
                  <a:srgbClr val="FFFFFF"/>
                </a:solidFill>
                <a:latin typeface="Aptos"/>
              </a:rPr>
              <a:t>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3291840"/>
            <a:ext cx="201168" cy="146304"/>
          </a:xfrm>
          <a:prstGeom prst="roundRect">
            <a:avLst/>
          </a:prstGeom>
          <a:solidFill>
            <a:srgbClr val="37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3314700"/>
            <a:ext cx="201168" cy="73152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ctr"/>
            <a:r>
              <a:rPr sz="459" b="1">
                <a:solidFill>
                  <a:srgbClr val="FFFFFF"/>
                </a:solidFill>
                <a:latin typeface="Aptos"/>
              </a:rPr>
              <a:t>U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3511295"/>
            <a:ext cx="201168" cy="146304"/>
          </a:xfrm>
          <a:prstGeom prst="roundRect">
            <a:avLst/>
          </a:prstGeom>
          <a:solidFill>
            <a:srgbClr val="37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46520" y="3534156"/>
            <a:ext cx="201168" cy="73152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ctr"/>
            <a:r>
              <a:rPr sz="459" b="1">
                <a:solidFill>
                  <a:srgbClr val="FFFFFF"/>
                </a:solidFill>
                <a:latin typeface="Aptos"/>
              </a:rPr>
              <a:t>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3730751"/>
            <a:ext cx="201168" cy="146304"/>
          </a:xfrm>
          <a:prstGeom prst="roundRect">
            <a:avLst/>
          </a:prstGeom>
          <a:solidFill>
            <a:srgbClr val="37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46520" y="3753612"/>
            <a:ext cx="201168" cy="73152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ctr"/>
            <a:r>
              <a:rPr sz="459" b="1">
                <a:solidFill>
                  <a:srgbClr val="FFFFFF"/>
                </a:solidFill>
                <a:latin typeface="Aptos"/>
              </a:rPr>
              <a:t>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46520" y="3950208"/>
            <a:ext cx="201168" cy="146304"/>
          </a:xfrm>
          <a:prstGeom prst="roundRect">
            <a:avLst/>
          </a:prstGeom>
          <a:solidFill>
            <a:srgbClr val="37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46520" y="3973067"/>
            <a:ext cx="201168" cy="73152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ctr"/>
            <a:r>
              <a:rPr sz="459" b="1">
                <a:solidFill>
                  <a:srgbClr val="FFFFFF"/>
                </a:solidFill>
                <a:latin typeface="Aptos"/>
              </a:rPr>
              <a:t>U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0" y="3291840"/>
            <a:ext cx="201168" cy="146304"/>
          </a:xfrm>
          <a:prstGeom prst="roundRect">
            <a:avLst/>
          </a:prstGeom>
          <a:solidFill>
            <a:srgbClr val="E2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0" y="3314700"/>
            <a:ext cx="201168" cy="73152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ctr"/>
            <a:r>
              <a:rPr sz="459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0" y="3511295"/>
            <a:ext cx="201168" cy="146304"/>
          </a:xfrm>
          <a:prstGeom prst="roundRect">
            <a:avLst/>
          </a:prstGeom>
          <a:solidFill>
            <a:srgbClr val="E2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58000" y="3534156"/>
            <a:ext cx="201168" cy="73152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ctr"/>
            <a:r>
              <a:rPr sz="459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0" y="3730751"/>
            <a:ext cx="201168" cy="146304"/>
          </a:xfrm>
          <a:prstGeom prst="roundRect">
            <a:avLst/>
          </a:prstGeom>
          <a:solidFill>
            <a:srgbClr val="E2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58000" y="3753612"/>
            <a:ext cx="201168" cy="73152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ctr"/>
            <a:r>
              <a:rPr sz="459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0" y="3950208"/>
            <a:ext cx="201168" cy="146304"/>
          </a:xfrm>
          <a:prstGeom prst="roundRect">
            <a:avLst/>
          </a:prstGeom>
          <a:solidFill>
            <a:srgbClr val="E2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58000" y="3973067"/>
            <a:ext cx="201168" cy="73152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ctr"/>
            <a:r>
              <a:rPr sz="459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160520" y="2697480"/>
            <a:ext cx="731520" cy="0"/>
          </a:xfrm>
          <a:prstGeom prst="line">
            <a:avLst/>
          </a:prstGeom>
          <a:ln w="22860">
            <a:solidFill>
              <a:srgbClr val="00A3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Google Shape;66;p14" title="Logo.png">
            <a:extLst>
              <a:ext uri="{FF2B5EF4-FFF2-40B4-BE49-F238E27FC236}">
                <a16:creationId xmlns:a16="http://schemas.microsoft.com/office/drawing/2014/main" id="{1B4E1CAE-0E1D-1578-D69D-77F4F52CC3D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33100" y="4632374"/>
            <a:ext cx="903176" cy="422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68;p14">
            <a:extLst>
              <a:ext uri="{FF2B5EF4-FFF2-40B4-BE49-F238E27FC236}">
                <a16:creationId xmlns:a16="http://schemas.microsoft.com/office/drawing/2014/main" id="{654990AF-9E8C-2EBF-357D-91E69FA308C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85" y="4670625"/>
            <a:ext cx="1106765" cy="4224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Right Triangle 2">
            <a:extLst>
              <a:ext uri="{FF2B5EF4-FFF2-40B4-BE49-F238E27FC236}">
                <a16:creationId xmlns:a16="http://schemas.microsoft.com/office/drawing/2014/main" id="{3D071CC4-31F4-FFBC-1FB8-68739F83393F}"/>
              </a:ext>
            </a:extLst>
          </p:cNvPr>
          <p:cNvSpPr/>
          <p:nvPr/>
        </p:nvSpPr>
        <p:spPr>
          <a:xfrm>
            <a:off x="7818120" y="0"/>
            <a:ext cx="1325880" cy="1325880"/>
          </a:xfrm>
          <a:prstGeom prst="rtTriangle">
            <a:avLst/>
          </a:prstGeom>
          <a:solidFill>
            <a:srgbClr val="DF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329184"/>
            <a:ext cx="6675120" cy="384048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2200" b="1">
                <a:solidFill>
                  <a:srgbClr val="0C2138"/>
                </a:solidFill>
                <a:latin typeface="Aptos"/>
              </a:rPr>
              <a:t>3. QC Advantage +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6583680" cy="201168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950" b="0">
                <a:solidFill>
                  <a:srgbClr val="607080"/>
                </a:solidFill>
                <a:latin typeface="Aptos"/>
              </a:rPr>
              <a:t>The useful claim is fixed-budget approximation, not guaranteed speedup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15568"/>
            <a:ext cx="379476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15568"/>
            <a:ext cx="54864" cy="2971800"/>
          </a:xfrm>
          <a:prstGeom prst="rect">
            <a:avLst/>
          </a:prstGeom>
          <a:solidFill>
            <a:srgbClr val="37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5318" y="1265527"/>
            <a:ext cx="3538728" cy="252377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r>
              <a:rPr lang="zh-CN" altLang="zh-CN" sz="1350" b="1" dirty="0">
                <a:solidFill>
                  <a:srgbClr val="0C2138"/>
                </a:solidFill>
                <a:latin typeface="Aptos"/>
              </a:rPr>
              <a:t>Why QAOA applies</a:t>
            </a:r>
            <a:endParaRPr sz="1350" b="1" dirty="0">
              <a:solidFill>
                <a:srgbClr val="0C2138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3232" y="1600200"/>
            <a:ext cx="3200400" cy="1325880"/>
          </a:xfrm>
          <a:prstGeom prst="rect">
            <a:avLst/>
          </a:prstGeom>
          <a:noFill/>
        </p:spPr>
        <p:txBody>
          <a:bodyPr wrap="square" lIns="36576" tIns="9144" rIns="27432">
            <a:spAutoFit/>
          </a:bodyPr>
          <a:lstStyle/>
          <a:p>
            <a:pPr>
              <a:spcAft>
                <a:spcPts val="300"/>
              </a:spcAft>
              <a:defRPr sz="1120">
                <a:solidFill>
                  <a:srgbClr val="1E2935"/>
                </a:solidFill>
                <a:latin typeface="Aptos"/>
              </a:defRPr>
            </a:pPr>
            <a:r>
              <a:rPr dirty="0"/>
              <a:t>QAOA works natively on QUBO/Ising objectives.</a:t>
            </a:r>
          </a:p>
          <a:p>
            <a:pPr>
              <a:spcAft>
                <a:spcPts val="300"/>
              </a:spcAft>
              <a:defRPr sz="1120">
                <a:solidFill>
                  <a:srgbClr val="1E2935"/>
                </a:solidFill>
                <a:latin typeface="Aptos"/>
              </a:defRPr>
            </a:pPr>
            <a:r>
              <a:rPr dirty="0"/>
              <a:t>Warm-start changes the initial state and mixer, so it is an algorithm-level modification.</a:t>
            </a:r>
          </a:p>
          <a:p>
            <a:pPr>
              <a:spcAft>
                <a:spcPts val="300"/>
              </a:spcAft>
              <a:defRPr sz="1120">
                <a:solidFill>
                  <a:srgbClr val="1E2935"/>
                </a:solidFill>
                <a:latin typeface="Aptos"/>
              </a:defRPr>
            </a:pPr>
            <a:r>
              <a:rPr dirty="0"/>
              <a:t>Dynamic snapshots are related, which gives warm-start useful structure.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115568"/>
            <a:ext cx="379476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09160" y="1115568"/>
            <a:ext cx="54864" cy="2971800"/>
          </a:xfrm>
          <a:prstGeom prst="rect">
            <a:avLst/>
          </a:prstGeom>
          <a:solidFill>
            <a:srgbClr val="E2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73752" y="1234440"/>
            <a:ext cx="3538728" cy="228600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1350" b="1">
                <a:solidFill>
                  <a:srgbClr val="0C2138"/>
                </a:solidFill>
                <a:latin typeface="Aptos"/>
              </a:rPr>
              <a:t>Challenges &amp; mitigations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65192" y="1600200"/>
            <a:ext cx="3200400" cy="1325880"/>
          </a:xfrm>
          <a:prstGeom prst="rect">
            <a:avLst/>
          </a:prstGeom>
          <a:noFill/>
        </p:spPr>
        <p:txBody>
          <a:bodyPr wrap="square" lIns="36576" tIns="9144" rIns="27432">
            <a:spAutoFit/>
          </a:bodyPr>
          <a:lstStyle/>
          <a:p>
            <a:pPr>
              <a:spcAft>
                <a:spcPts val="300"/>
              </a:spcAft>
              <a:defRPr sz="1120">
                <a:solidFill>
                  <a:srgbClr val="1E2935"/>
                </a:solidFill>
                <a:latin typeface="Aptos"/>
              </a:defRPr>
            </a:pPr>
            <a:r>
              <a:t>Cold-start repeats variational search for every snapshot.</a:t>
            </a:r>
          </a:p>
          <a:p>
            <a:pPr>
              <a:spcAft>
                <a:spcPts val="300"/>
              </a:spcAft>
              <a:defRPr sz="1120">
                <a:solidFill>
                  <a:srgbClr val="1E2935"/>
                </a:solidFill>
                <a:latin typeface="Aptos"/>
              </a:defRPr>
            </a:pPr>
            <a:r>
              <a:t>Each optimizer step needs circuit executions and expectation estimation.</a:t>
            </a:r>
          </a:p>
          <a:p>
            <a:pPr>
              <a:spcAft>
                <a:spcPts val="300"/>
              </a:spcAft>
              <a:defRPr sz="1120">
                <a:solidFill>
                  <a:srgbClr val="1E2935"/>
                </a:solidFill>
                <a:latin typeface="Aptos"/>
              </a:defRPr>
            </a:pPr>
            <a:r>
              <a:t>NISQ resources are limited, so encoding and depth matter.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315968"/>
            <a:ext cx="6766560" cy="256032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ctr"/>
            <a:r>
              <a:rPr sz="1220" b="1">
                <a:solidFill>
                  <a:srgbClr val="00707A"/>
                </a:solidFill>
                <a:latin typeface="Aptos"/>
              </a:rPr>
              <a:t>We claim better approximation at the same budget, not asymptotic quantum speedup.</a:t>
            </a:r>
          </a:p>
        </p:txBody>
      </p:sp>
      <p:pic>
        <p:nvPicPr>
          <p:cNvPr id="18" name="Google Shape;66;p14" title="Logo.png">
            <a:extLst>
              <a:ext uri="{FF2B5EF4-FFF2-40B4-BE49-F238E27FC236}">
                <a16:creationId xmlns:a16="http://schemas.microsoft.com/office/drawing/2014/main" id="{55626573-E13D-2511-ED89-55F5A957BF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33100" y="4632374"/>
            <a:ext cx="903176" cy="422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68;p14">
            <a:extLst>
              <a:ext uri="{FF2B5EF4-FFF2-40B4-BE49-F238E27FC236}">
                <a16:creationId xmlns:a16="http://schemas.microsoft.com/office/drawing/2014/main" id="{D24541EC-E29E-205E-5A5C-1791F5E333E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85" y="4670625"/>
            <a:ext cx="1106765" cy="42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Right Triangle 2">
            <a:extLst>
              <a:ext uri="{FF2B5EF4-FFF2-40B4-BE49-F238E27FC236}">
                <a16:creationId xmlns:a16="http://schemas.microsoft.com/office/drawing/2014/main" id="{D7A6D8F9-5BCB-2C7D-14AD-6A5FE9F65B73}"/>
              </a:ext>
            </a:extLst>
          </p:cNvPr>
          <p:cNvSpPr/>
          <p:nvPr/>
        </p:nvSpPr>
        <p:spPr>
          <a:xfrm>
            <a:off x="7818120" y="0"/>
            <a:ext cx="1325880" cy="1325880"/>
          </a:xfrm>
          <a:prstGeom prst="rtTriangle">
            <a:avLst/>
          </a:prstGeom>
          <a:solidFill>
            <a:srgbClr val="DF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329184"/>
            <a:ext cx="6675120" cy="384048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2200" b="1">
                <a:solidFill>
                  <a:srgbClr val="0C2138"/>
                </a:solidFill>
                <a:latin typeface="Aptos"/>
              </a:rPr>
              <a:t>4. Quantum Approach and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6583680" cy="201168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950" b="0">
                <a:solidFill>
                  <a:srgbClr val="607080"/>
                </a:solidFill>
                <a:latin typeface="Aptos"/>
              </a:rPr>
              <a:t>Implementation pipeline used in the hack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325880"/>
            <a:ext cx="1325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1325880"/>
            <a:ext cx="54864" cy="1143000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44752"/>
            <a:ext cx="1069848" cy="228600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1350" b="1">
                <a:solidFill>
                  <a:srgbClr val="0C2138"/>
                </a:solidFill>
                <a:latin typeface="Aptos"/>
              </a:rPr>
              <a:t>Network graph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09928" y="1892807"/>
            <a:ext cx="411480" cy="0"/>
          </a:xfrm>
          <a:prstGeom prst="line">
            <a:avLst/>
          </a:prstGeom>
          <a:ln w="22860">
            <a:solidFill>
              <a:srgbClr val="00A3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121408" y="1325880"/>
            <a:ext cx="1325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121408" y="1325880"/>
            <a:ext cx="54864" cy="1143000"/>
          </a:xfrm>
          <a:prstGeom prst="rect">
            <a:avLst/>
          </a:prstGeom>
          <a:solidFill>
            <a:srgbClr val="37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86000" y="1444752"/>
            <a:ext cx="1069848" cy="228600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1350" b="1">
                <a:solidFill>
                  <a:srgbClr val="0C2138"/>
                </a:solidFill>
                <a:latin typeface="Aptos"/>
              </a:rPr>
              <a:t>QUBO encoding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47288" y="1892807"/>
            <a:ext cx="411480" cy="0"/>
          </a:xfrm>
          <a:prstGeom prst="line">
            <a:avLst/>
          </a:prstGeom>
          <a:ln w="22860">
            <a:solidFill>
              <a:srgbClr val="00A3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858768" y="1325880"/>
            <a:ext cx="1325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858768" y="1325880"/>
            <a:ext cx="54864" cy="1143000"/>
          </a:xfrm>
          <a:prstGeom prst="rect">
            <a:avLst/>
          </a:prstGeom>
          <a:solidFill>
            <a:srgbClr val="E2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23360" y="1444752"/>
            <a:ext cx="1069848" cy="228600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1350" b="1">
                <a:solidFill>
                  <a:srgbClr val="0C2138"/>
                </a:solidFill>
                <a:latin typeface="Aptos"/>
              </a:rPr>
              <a:t>Ising cost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184648" y="1892807"/>
            <a:ext cx="411480" cy="0"/>
          </a:xfrm>
          <a:prstGeom prst="line">
            <a:avLst/>
          </a:prstGeom>
          <a:ln w="22860">
            <a:solidFill>
              <a:srgbClr val="00A3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596127" y="1325880"/>
            <a:ext cx="1325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596127" y="1325880"/>
            <a:ext cx="54864" cy="1143000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60719" y="1444752"/>
            <a:ext cx="1069848" cy="228600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1350" b="1">
                <a:solidFill>
                  <a:srgbClr val="0C2138"/>
                </a:solidFill>
                <a:latin typeface="Aptos"/>
              </a:rPr>
              <a:t>QAOA solve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922007" y="1892807"/>
            <a:ext cx="411480" cy="0"/>
          </a:xfrm>
          <a:prstGeom prst="line">
            <a:avLst/>
          </a:prstGeom>
          <a:ln w="22860">
            <a:solidFill>
              <a:srgbClr val="00A3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33488" y="1325880"/>
            <a:ext cx="1325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33488" y="1325880"/>
            <a:ext cx="54864" cy="1143000"/>
          </a:xfrm>
          <a:prstGeom prst="rect">
            <a:avLst/>
          </a:prstGeom>
          <a:solidFill>
            <a:srgbClr val="37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0" y="1444752"/>
            <a:ext cx="1069848" cy="228600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1350" b="1">
                <a:solidFill>
                  <a:srgbClr val="0C2138"/>
                </a:solidFill>
                <a:latin typeface="Aptos"/>
              </a:rPr>
              <a:t>Decode result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2971799"/>
            <a:ext cx="7132320" cy="14218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05840" y="3011111"/>
            <a:ext cx="45719" cy="1343261"/>
          </a:xfrm>
          <a:prstGeom prst="rect">
            <a:avLst/>
          </a:prstGeom>
          <a:solidFill>
            <a:srgbClr val="00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70432" y="3090672"/>
            <a:ext cx="6876288" cy="228600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1350" b="1">
                <a:solidFill>
                  <a:srgbClr val="0C2138"/>
                </a:solidFill>
                <a:latin typeface="Aptos"/>
              </a:rPr>
              <a:t>Implementation &amp; 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1872" y="3364992"/>
            <a:ext cx="3840480" cy="640080"/>
          </a:xfrm>
          <a:prstGeom prst="rect">
            <a:avLst/>
          </a:prstGeom>
          <a:noFill/>
        </p:spPr>
        <p:txBody>
          <a:bodyPr wrap="square" lIns="36576" tIns="9144" rIns="27432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E2935"/>
                </a:solidFill>
                <a:latin typeface="Aptos"/>
              </a:defRPr>
            </a:pPr>
            <a:r>
              <a:t>Qiskit + qiskit-optimization</a:t>
            </a:r>
          </a:p>
          <a:p>
            <a:pPr>
              <a:spcAft>
                <a:spcPts val="300"/>
              </a:spcAft>
              <a:defRPr sz="1050">
                <a:solidFill>
                  <a:srgbClr val="1E2935"/>
                </a:solidFill>
                <a:latin typeface="Aptos"/>
              </a:defRPr>
            </a:pPr>
            <a:r>
              <a:t>WarmStartQAOAOptimizer + SlsqpOptimizer</a:t>
            </a:r>
          </a:p>
          <a:p>
            <a:pPr>
              <a:spcAft>
                <a:spcPts val="300"/>
              </a:spcAft>
              <a:defRPr sz="1050">
                <a:solidFill>
                  <a:srgbClr val="1E2935"/>
                </a:solidFill>
                <a:latin typeface="Aptos"/>
              </a:defRPr>
            </a:pPr>
            <a:r>
              <a:t>qiskit-aer statevector simulator</a:t>
            </a:r>
          </a:p>
          <a:p>
            <a:pPr>
              <a:spcAft>
                <a:spcPts val="300"/>
              </a:spcAft>
              <a:defRPr sz="1050">
                <a:solidFill>
                  <a:srgbClr val="1E2935"/>
                </a:solidFill>
                <a:latin typeface="Aptos"/>
              </a:defRPr>
            </a:pPr>
            <a:r>
              <a:t>NetworkX for graph generation</a:t>
            </a:r>
          </a:p>
          <a:p>
            <a:pPr>
              <a:spcAft>
                <a:spcPts val="300"/>
              </a:spcAft>
              <a:defRPr sz="1050">
                <a:solidFill>
                  <a:srgbClr val="1E2935"/>
                </a:solidFill>
                <a:latin typeface="Aptos"/>
              </a:defRPr>
            </a:pPr>
            <a:r>
              <a:t>Brute force + greedy baselines for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3401568"/>
            <a:ext cx="2331720" cy="384048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ctr"/>
            <a:r>
              <a:rPr sz="1150" b="1">
                <a:solidFill>
                  <a:srgbClr val="00707A"/>
                </a:solidFill>
                <a:latin typeface="Aptos"/>
              </a:rPr>
              <a:t>The stack is fully reproducible with uv and runs without real-hardware queue time.</a:t>
            </a:r>
          </a:p>
        </p:txBody>
      </p:sp>
      <p:pic>
        <p:nvPicPr>
          <p:cNvPr id="33" name="Google Shape;66;p14" title="Logo.png">
            <a:extLst>
              <a:ext uri="{FF2B5EF4-FFF2-40B4-BE49-F238E27FC236}">
                <a16:creationId xmlns:a16="http://schemas.microsoft.com/office/drawing/2014/main" id="{D363F0FF-5054-D3C6-EED6-9F8E903991C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33100" y="4632374"/>
            <a:ext cx="903176" cy="422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68;p14">
            <a:extLst>
              <a:ext uri="{FF2B5EF4-FFF2-40B4-BE49-F238E27FC236}">
                <a16:creationId xmlns:a16="http://schemas.microsoft.com/office/drawing/2014/main" id="{5A67C81B-DF4D-39C2-8AEC-3DA7FE3C3EC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85" y="4670625"/>
            <a:ext cx="1106765" cy="42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Right Triangle 2">
            <a:extLst>
              <a:ext uri="{FF2B5EF4-FFF2-40B4-BE49-F238E27FC236}">
                <a16:creationId xmlns:a16="http://schemas.microsoft.com/office/drawing/2014/main" id="{CE9BCE92-DC47-6C45-AE23-D266912BCCDE}"/>
              </a:ext>
            </a:extLst>
          </p:cNvPr>
          <p:cNvSpPr/>
          <p:nvPr/>
        </p:nvSpPr>
        <p:spPr>
          <a:xfrm>
            <a:off x="7818120" y="0"/>
            <a:ext cx="1325880" cy="1325880"/>
          </a:xfrm>
          <a:prstGeom prst="rtTriangle">
            <a:avLst/>
          </a:prstGeom>
          <a:solidFill>
            <a:srgbClr val="DF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>
            <a:off x="7818120" y="0"/>
            <a:ext cx="1325880" cy="1325880"/>
          </a:xfrm>
          <a:prstGeom prst="rtTriangle">
            <a:avLst/>
          </a:prstGeom>
          <a:solidFill>
            <a:srgbClr val="DF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329184"/>
            <a:ext cx="7118868" cy="375487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r>
              <a:rPr sz="2200" b="1" dirty="0">
                <a:solidFill>
                  <a:srgbClr val="0C2138"/>
                </a:solidFill>
                <a:latin typeface="Aptos"/>
              </a:rPr>
              <a:t>5. Warm-Start Mechanism</a:t>
            </a:r>
            <a:r>
              <a:rPr lang="en-US" sz="2200" b="1" dirty="0">
                <a:solidFill>
                  <a:srgbClr val="0C2138"/>
                </a:solidFill>
                <a:latin typeface="Aptos"/>
              </a:rPr>
              <a:t> VS Cold</a:t>
            </a:r>
            <a:r>
              <a:rPr lang="en-US" altLang="zh-CN" sz="2200" b="1" dirty="0">
                <a:solidFill>
                  <a:srgbClr val="0C2138"/>
                </a:solidFill>
                <a:latin typeface="Aptos"/>
              </a:rPr>
              <a:t>-Start Mechanism </a:t>
            </a:r>
            <a:endParaRPr sz="2200" b="1" dirty="0">
              <a:solidFill>
                <a:srgbClr val="0C2138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6583680" cy="201168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950" b="0" dirty="0">
                <a:solidFill>
                  <a:srgbClr val="607080"/>
                </a:solidFill>
                <a:latin typeface="Aptos"/>
              </a:rPr>
              <a:t>Reuse structure across related QUBO snapshots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417320"/>
            <a:ext cx="1554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0352" y="1417320"/>
            <a:ext cx="54864" cy="1234440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1536192"/>
            <a:ext cx="1298448" cy="228600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1350" b="1" dirty="0">
                <a:solidFill>
                  <a:srgbClr val="0C2138"/>
                </a:solidFill>
                <a:latin typeface="Aptos"/>
              </a:rPr>
              <a:t>Snapshot t gives </a:t>
            </a:r>
            <a:r>
              <a:rPr sz="1350" b="1" dirty="0" err="1">
                <a:solidFill>
                  <a:srgbClr val="0C2138"/>
                </a:solidFill>
                <a:latin typeface="Aptos"/>
              </a:rPr>
              <a:t>QUBO_t</a:t>
            </a:r>
            <a:endParaRPr sz="1350" b="1" dirty="0">
              <a:solidFill>
                <a:srgbClr val="0C2138"/>
              </a:solidFill>
              <a:latin typeface="Aptos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2057400" y="2029968"/>
            <a:ext cx="521208" cy="0"/>
          </a:xfrm>
          <a:prstGeom prst="line">
            <a:avLst/>
          </a:prstGeom>
          <a:ln w="22860">
            <a:solidFill>
              <a:srgbClr val="00A3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87752" y="1417320"/>
            <a:ext cx="1554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87752" y="1417320"/>
            <a:ext cx="54864" cy="1234440"/>
          </a:xfrm>
          <a:prstGeom prst="rect">
            <a:avLst/>
          </a:prstGeom>
          <a:solidFill>
            <a:srgbClr val="37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52344" y="1536192"/>
            <a:ext cx="1298448" cy="228600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1350" b="1">
                <a:solidFill>
                  <a:srgbClr val="0C2138"/>
                </a:solidFill>
                <a:latin typeface="Aptos"/>
              </a:rPr>
              <a:t>Continuous relaxation provides a biased starting point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14800" y="2029968"/>
            <a:ext cx="521208" cy="0"/>
          </a:xfrm>
          <a:prstGeom prst="line">
            <a:avLst/>
          </a:prstGeom>
          <a:ln w="22860">
            <a:solidFill>
              <a:srgbClr val="00A3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45152" y="1417320"/>
            <a:ext cx="1554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45152" y="1417320"/>
            <a:ext cx="54864" cy="1234440"/>
          </a:xfrm>
          <a:prstGeom prst="rect">
            <a:avLst/>
          </a:prstGeom>
          <a:solidFill>
            <a:srgbClr val="E2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09744" y="1536192"/>
            <a:ext cx="1298448" cy="228600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1350" b="1">
                <a:solidFill>
                  <a:srgbClr val="0C2138"/>
                </a:solidFill>
                <a:latin typeface="Aptos"/>
              </a:rPr>
              <a:t>Initial state and mixer are warm-started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72200" y="2029968"/>
            <a:ext cx="521208" cy="0"/>
          </a:xfrm>
          <a:prstGeom prst="line">
            <a:avLst/>
          </a:prstGeom>
          <a:ln w="22860">
            <a:solidFill>
              <a:srgbClr val="00A3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702552" y="1417320"/>
            <a:ext cx="1554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702552" y="1417320"/>
            <a:ext cx="54864" cy="1234440"/>
          </a:xfrm>
          <a:prstGeom prst="rect">
            <a:avLst/>
          </a:prstGeom>
          <a:solidFill>
            <a:srgbClr val="37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67144" y="1536192"/>
            <a:ext cx="1298448" cy="228600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1350" b="1">
                <a:solidFill>
                  <a:srgbClr val="0C2138"/>
                </a:solidFill>
                <a:latin typeface="Aptos"/>
              </a:rPr>
              <a:t>QAOA searches near a promising basin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3246120"/>
            <a:ext cx="70408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51560" y="3246120"/>
            <a:ext cx="54864" cy="658368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16152" y="3364992"/>
            <a:ext cx="6784848" cy="244682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350" b="1">
                <a:solidFill>
                  <a:srgbClr val="0C2138"/>
                </a:solidFill>
                <a:latin typeface="Aptos"/>
              </a:defRPr>
            </a:lvl1pPr>
          </a:lstStyle>
          <a:p>
            <a:r>
              <a:rPr lang="zh-CN" altLang="zh-CN" dirty="0"/>
              <a:t>Cold-start: random initialization without snapshot information</a:t>
            </a:r>
            <a:endParaRPr dirty="0"/>
          </a:p>
        </p:txBody>
      </p:sp>
      <p:sp>
        <p:nvSpPr>
          <p:cNvPr id="28" name="TextBox 3">
            <a:extLst>
              <a:ext uri="{FF2B5EF4-FFF2-40B4-BE49-F238E27FC236}">
                <a16:creationId xmlns:a16="http://schemas.microsoft.com/office/drawing/2014/main" id="{24889A39-16CB-2367-E5ED-A0027289E051}"/>
              </a:ext>
            </a:extLst>
          </p:cNvPr>
          <p:cNvSpPr txBox="1"/>
          <p:nvPr/>
        </p:nvSpPr>
        <p:spPr>
          <a:xfrm>
            <a:off x="375962" y="1027182"/>
            <a:ext cx="3674830" cy="313932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r>
              <a:rPr sz="1800" b="1" dirty="0">
                <a:solidFill>
                  <a:srgbClr val="0C2138"/>
                </a:solidFill>
                <a:latin typeface="Aptos"/>
              </a:rPr>
              <a:t>Warm-Start Mechanism</a:t>
            </a:r>
          </a:p>
        </p:txBody>
      </p:sp>
      <p:pic>
        <p:nvPicPr>
          <p:cNvPr id="30" name="Google Shape;66;p14" title="Logo.png">
            <a:extLst>
              <a:ext uri="{FF2B5EF4-FFF2-40B4-BE49-F238E27FC236}">
                <a16:creationId xmlns:a16="http://schemas.microsoft.com/office/drawing/2014/main" id="{6E6C77D2-0927-D0B8-178D-CA2576D6863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33100" y="4632374"/>
            <a:ext cx="903176" cy="422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68;p14">
            <a:extLst>
              <a:ext uri="{FF2B5EF4-FFF2-40B4-BE49-F238E27FC236}">
                <a16:creationId xmlns:a16="http://schemas.microsoft.com/office/drawing/2014/main" id="{29EE8E32-08DC-0396-9A9D-9ED6A8C5751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85" y="4670625"/>
            <a:ext cx="1106765" cy="42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>
            <a:off x="7818120" y="0"/>
            <a:ext cx="1325880" cy="1325880"/>
          </a:xfrm>
          <a:prstGeom prst="rtTriangle">
            <a:avLst/>
          </a:prstGeom>
          <a:solidFill>
            <a:srgbClr val="DF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329184"/>
            <a:ext cx="6675120" cy="384048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2200" b="1">
                <a:solidFill>
                  <a:srgbClr val="0C2138"/>
                </a:solidFill>
                <a:latin typeface="Aptos"/>
              </a:rPr>
              <a:t>6. Demo: End-to-End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6583680" cy="201168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950" b="0">
                <a:solidFill>
                  <a:srgbClr val="607080"/>
                </a:solidFill>
                <a:latin typeface="Aptos"/>
              </a:rPr>
              <a:t>Figures are extracted from demo.ipynb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1070958"/>
            <a:ext cx="27432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25880" y="1070958"/>
            <a:ext cx="54864" cy="3520440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90472" y="1189830"/>
            <a:ext cx="2487168" cy="228600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1350" b="1">
                <a:solidFill>
                  <a:srgbClr val="0C2138"/>
                </a:solidFill>
                <a:latin typeface="Aptos"/>
              </a:rPr>
              <a:t>Input graph</a:t>
            </a:r>
          </a:p>
        </p:txBody>
      </p:sp>
      <p:pic>
        <p:nvPicPr>
          <p:cNvPr id="9" name="Picture 8" descr="demo_cell_03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" y="1528158"/>
            <a:ext cx="2328870" cy="163496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0" y="1051561"/>
            <a:ext cx="27432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0" y="1051561"/>
            <a:ext cx="54864" cy="3520440"/>
          </a:xfrm>
          <a:prstGeom prst="rect">
            <a:avLst/>
          </a:prstGeom>
          <a:solidFill>
            <a:srgbClr val="37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36592" y="1170433"/>
            <a:ext cx="2487168" cy="228600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1350" b="1">
                <a:solidFill>
                  <a:srgbClr val="0C2138"/>
                </a:solidFill>
                <a:latin typeface="Aptos"/>
              </a:rPr>
              <a:t>QAOA assignment</a:t>
            </a:r>
          </a:p>
        </p:txBody>
      </p:sp>
      <p:pic>
        <p:nvPicPr>
          <p:cNvPr id="13" name="Picture 12" descr="demo_cell_07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1508760"/>
            <a:ext cx="2350010" cy="1649803"/>
          </a:xfrm>
          <a:prstGeom prst="rect">
            <a:avLst/>
          </a:prstGeom>
        </p:spPr>
      </p:pic>
      <p:pic>
        <p:nvPicPr>
          <p:cNvPr id="22" name="Google Shape;66;p14" title="Logo.png">
            <a:extLst>
              <a:ext uri="{FF2B5EF4-FFF2-40B4-BE49-F238E27FC236}">
                <a16:creationId xmlns:a16="http://schemas.microsoft.com/office/drawing/2014/main" id="{2D110503-74E9-7B72-D07F-2AC9165D223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33100" y="4632374"/>
            <a:ext cx="903176" cy="422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68;p14">
            <a:extLst>
              <a:ext uri="{FF2B5EF4-FFF2-40B4-BE49-F238E27FC236}">
                <a16:creationId xmlns:a16="http://schemas.microsoft.com/office/drawing/2014/main" id="{157D3A2D-70AC-4A4D-4D27-41D240F4CDF4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85" y="4670625"/>
            <a:ext cx="1106765" cy="42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329184"/>
            <a:ext cx="7201996" cy="384048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2200" b="1" dirty="0">
                <a:solidFill>
                  <a:srgbClr val="0C2138"/>
                </a:solidFill>
                <a:latin typeface="Aptos"/>
              </a:rPr>
              <a:t>7. Result: Warm-Start Improves Fixed-Budget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6583680" cy="201168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950" b="0" dirty="0">
                <a:solidFill>
                  <a:srgbClr val="607080"/>
                </a:solidFill>
                <a:latin typeface="Aptos"/>
              </a:rPr>
              <a:t>Notebook result, directly embedded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15984"/>
            <a:ext cx="7576296" cy="32451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54864" cy="3429000"/>
          </a:xfrm>
          <a:prstGeom prst="rect">
            <a:avLst/>
          </a:prstGeom>
          <a:solidFill>
            <a:srgbClr val="37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1106424"/>
            <a:ext cx="5001768" cy="228600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1350" b="1">
                <a:solidFill>
                  <a:srgbClr val="0C2138"/>
                </a:solidFill>
                <a:latin typeface="Aptos"/>
              </a:rPr>
              <a:t>Cold vs warm-start QAOA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873752"/>
            <a:ext cx="2011680" cy="164592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607080"/>
                </a:solidFill>
                <a:latin typeface="Aptos"/>
              </a:rPr>
              <a:t>The Entanglers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873752"/>
            <a:ext cx="2057400" cy="164592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r"/>
            <a:r>
              <a:rPr sz="850" b="0">
                <a:solidFill>
                  <a:srgbClr val="607080"/>
                </a:solidFill>
                <a:latin typeface="Aptos"/>
              </a:rPr>
              <a:t>ISIT 2026 Quantum Hackathon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497E21C-B18D-BDD8-EEA6-B998A7559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967" y="1422502"/>
            <a:ext cx="7081153" cy="2705013"/>
          </a:xfrm>
          <a:prstGeom prst="rect">
            <a:avLst/>
          </a:prstGeom>
        </p:spPr>
      </p:pic>
      <p:sp>
        <p:nvSpPr>
          <p:cNvPr id="19" name="Right Triangle 2">
            <a:extLst>
              <a:ext uri="{FF2B5EF4-FFF2-40B4-BE49-F238E27FC236}">
                <a16:creationId xmlns:a16="http://schemas.microsoft.com/office/drawing/2014/main" id="{DCBDBDB0-37EA-4114-096F-238650B6C0A5}"/>
              </a:ext>
            </a:extLst>
          </p:cNvPr>
          <p:cNvSpPr/>
          <p:nvPr/>
        </p:nvSpPr>
        <p:spPr>
          <a:xfrm>
            <a:off x="7818120" y="0"/>
            <a:ext cx="1325880" cy="1325880"/>
          </a:xfrm>
          <a:prstGeom prst="rtTriangle">
            <a:avLst/>
          </a:prstGeom>
          <a:solidFill>
            <a:srgbClr val="DF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>
            <a:off x="7818120" y="0"/>
            <a:ext cx="1325880" cy="1325880"/>
          </a:xfrm>
          <a:prstGeom prst="rtTriangle">
            <a:avLst/>
          </a:prstGeom>
          <a:solidFill>
            <a:srgbClr val="DF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329184"/>
            <a:ext cx="6675120" cy="375487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r>
              <a:rPr sz="2200" b="1" dirty="0">
                <a:solidFill>
                  <a:srgbClr val="0C2138"/>
                </a:solidFill>
                <a:latin typeface="Aptos"/>
              </a:rPr>
              <a:t>8. </a:t>
            </a:r>
            <a:r>
              <a:rPr lang="zh-CN" altLang="zh-CN" sz="2200" b="1" dirty="0">
                <a:solidFill>
                  <a:srgbClr val="0C2138"/>
                </a:solidFill>
                <a:latin typeface="Aptos"/>
              </a:rPr>
              <a:t>Resource–Structure Effect of Encoding</a:t>
            </a:r>
            <a:endParaRPr sz="2200" b="1" dirty="0">
              <a:solidFill>
                <a:srgbClr val="0C2138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6583680" cy="201168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950" b="0">
                <a:solidFill>
                  <a:srgbClr val="607080"/>
                </a:solidFill>
                <a:latin typeface="Aptos"/>
              </a:rPr>
              <a:t>Minimum qubits are not the whole 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987552"/>
            <a:ext cx="516636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54864" cy="3429000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1168492"/>
            <a:ext cx="4910328" cy="244682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1350" b="1" dirty="0">
                <a:solidFill>
                  <a:srgbClr val="0C2138"/>
                </a:solidFill>
                <a:latin typeface="Aptos"/>
              </a:rPr>
              <a:t>encoding benchmark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987552"/>
            <a:ext cx="283464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97880" y="987552"/>
            <a:ext cx="54864" cy="3429000"/>
          </a:xfrm>
          <a:prstGeom prst="rect">
            <a:avLst/>
          </a:prstGeom>
          <a:solidFill>
            <a:srgbClr val="E2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62472" y="1106424"/>
            <a:ext cx="2578608" cy="228600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1350" b="1">
                <a:solidFill>
                  <a:srgbClr val="0C2138"/>
                </a:solidFill>
                <a:latin typeface="Aptos"/>
              </a:rPr>
              <a:t>Design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062472" y="1417320"/>
                <a:ext cx="2578608" cy="3102388"/>
              </a:xfrm>
              <a:prstGeom prst="rect">
                <a:avLst/>
              </a:prstGeom>
              <a:noFill/>
            </p:spPr>
            <p:txBody>
              <a:bodyPr wrap="square" lIns="36576" tIns="9144" rIns="27432">
                <a:spAutoFit/>
              </a:bodyPr>
              <a:lstStyle/>
              <a:p>
                <a:r>
                  <a:rPr lang="zh-CN" altLang="zh-CN" sz="1100" dirty="0"/>
                  <a:t>Binary encoding reduces qubit requirements from</a:t>
                </a:r>
                <a14:m>
                  <m:oMath xmlns:m="http://schemas.openxmlformats.org/officeDocument/2006/math">
                    <m:r>
                      <a:rPr lang="zh-CN" altLang="en-US" sz="11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zh-CN" altLang="en-US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100" i="1">
                            <a:latin typeface="Cambria Math" panose="02040503050406030204" pitchFamily="18" charset="0"/>
                          </a:rPr>
                          <m:t>𝑁𝐾</m:t>
                        </m:r>
                      </m:e>
                    </m:d>
                  </m:oMath>
                </a14:m>
                <a:r>
                  <a:rPr lang="zh-CN" altLang="zh-CN" sz="1100" dirty="0"/>
                  <a:t>to </a:t>
                </a:r>
                <a14:m>
                  <m:oMath xmlns:m="http://schemas.openxmlformats.org/officeDocument/2006/math">
                    <m:r>
                      <a:rPr lang="zh-CN" altLang="en-US" sz="11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zh-CN" altLang="en-US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100" i="1">
                            <a:latin typeface="Cambria Math" panose="02040503050406030204" pitchFamily="18" charset="0"/>
                          </a:rPr>
                          <m:t>𝑁</m:t>
                        </m:r>
                        <m:func>
                          <m:funcPr>
                            <m:ctrlPr>
                              <a:rPr lang="zh-CN" altLang="en-US" sz="11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11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zh-CN" altLang="en-US" sz="11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func>
                      </m:e>
                    </m:d>
                  </m:oMath>
                </a14:m>
                <a:r>
                  <a:rPr lang="zh-CN" altLang="zh-CN" sz="1100" dirty="0"/>
                  <a:t>, significantly lowering hardware cost. </a:t>
                </a:r>
                <a:endParaRPr lang="en-US" altLang="zh-CN" sz="1100" dirty="0"/>
              </a:p>
              <a:p>
                <a:endParaRPr lang="en-US" altLang="zh-CN" sz="1100" dirty="0"/>
              </a:p>
              <a:p>
                <a:r>
                  <a:rPr lang="zh-CN" altLang="zh-CN" sz="1100" dirty="0"/>
                  <a:t>However, this does not imply a monotonic trade-off with circuit depth or gate count.</a:t>
                </a:r>
              </a:p>
              <a:p>
                <a:r>
                  <a:rPr lang="zh-CN" altLang="zh-CN" sz="1100" dirty="0"/>
                  <a:t>Depth and gate complexity depend on the induced Hamiltonian structure and problem instance.</a:t>
                </a:r>
              </a:p>
              <a:p>
                <a:endParaRPr lang="en-US" altLang="zh-CN" sz="1100" dirty="0"/>
              </a:p>
              <a:p>
                <a:r>
                  <a:rPr lang="zh-CN" altLang="zh-CN" sz="1100" dirty="0"/>
                  <a:t>Empirically, binary encoding may yield:</a:t>
                </a:r>
              </a:p>
              <a:p>
                <a:r>
                  <a:rPr lang="en-US" altLang="zh-CN" sz="1100" dirty="0"/>
                  <a:t>1. </a:t>
                </a:r>
                <a:r>
                  <a:rPr lang="zh-CN" altLang="zh-CN" sz="1100" dirty="0"/>
                  <a:t>lower qubit usage (consistent) </a:t>
                </a:r>
              </a:p>
              <a:p>
                <a:r>
                  <a:rPr lang="en-US" altLang="zh-CN" sz="1100" dirty="0"/>
                  <a:t>2. </a:t>
                </a:r>
                <a:r>
                  <a:rPr lang="zh-CN" altLang="zh-CN" sz="1100" dirty="0"/>
                  <a:t>comparable or sometimes lower depth </a:t>
                </a:r>
              </a:p>
              <a:p>
                <a:r>
                  <a:rPr lang="en-US" altLang="zh-CN" sz="1100" dirty="0"/>
                  <a:t>3. </a:t>
                </a:r>
                <a:r>
                  <a:rPr lang="zh-CN" altLang="zh-CN" sz="1100" dirty="0"/>
                  <a:t>non-uniform gate complexity</a:t>
                </a:r>
              </a:p>
              <a:p>
                <a:endParaRPr lang="zh-CN" altLang="zh-CN" sz="1100" dirty="0"/>
              </a:p>
              <a:p>
                <a:pPr>
                  <a:spcAft>
                    <a:spcPts val="300"/>
                  </a:spcAft>
                  <a:defRPr sz="1100">
                    <a:solidFill>
                      <a:srgbClr val="1E2935"/>
                    </a:solidFill>
                    <a:latin typeface="Aptos"/>
                  </a:defRPr>
                </a:pPr>
                <a:endParaRPr lang="en-US" altLang="zh-CN" sz="11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2472" y="1417320"/>
                <a:ext cx="2578608" cy="3102388"/>
              </a:xfrm>
              <a:prstGeom prst="rect">
                <a:avLst/>
              </a:prstGeom>
              <a:blipFill>
                <a:blip r:embed="rId2"/>
                <a:stretch>
                  <a:fillRect l="-2128" t="-1378" r="-9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Table 9">
            <a:extLst>
              <a:ext uri="{FF2B5EF4-FFF2-40B4-BE49-F238E27FC236}">
                <a16:creationId xmlns:a16="http://schemas.microsoft.com/office/drawing/2014/main" id="{14123611-2C1C-93FA-0147-3F5FAAC0B5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32887"/>
              </p:ext>
            </p:extLst>
          </p:nvPr>
        </p:nvGraphicFramePr>
        <p:xfrm>
          <a:off x="690233" y="1671066"/>
          <a:ext cx="4450185" cy="1801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0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0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0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00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00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/>
                        </a:rPr>
                        <a:t>graph</a:t>
                      </a:r>
                      <a:endParaRPr sz="1050" b="1" dirty="0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anchor="ctr"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Microsoft YaHei"/>
                        </a:rPr>
                        <a:t>one-hot qubits</a:t>
                      </a:r>
                    </a:p>
                  </a:txBody>
                  <a:tcPr anchor="ctr"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Microsoft YaHei"/>
                        </a:rPr>
                        <a:t>binary qubits</a:t>
                      </a:r>
                    </a:p>
                  </a:txBody>
                  <a:tcPr anchor="ctr"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Microsoft YaHei"/>
                        </a:rPr>
                        <a:t>one-hot </a:t>
                      </a:r>
                      <a:r>
                        <a:rPr lang="zh-CN" altLang="zh-CN" sz="1050" b="1" i="0" u="none" strike="noStrike" cap="none" dirty="0">
                          <a:solidFill>
                            <a:srgbClr val="FFFFFF"/>
                          </a:solidFill>
                          <a:latin typeface="Microsoft YaHei"/>
                          <a:ea typeface="+mn-ea"/>
                          <a:cs typeface="+mn-cs"/>
                          <a:sym typeface="Arial"/>
                        </a:rPr>
                        <a:t>depth</a:t>
                      </a:r>
                      <a:endParaRPr sz="1050" b="1" i="0" u="none" strike="noStrike" cap="none" dirty="0">
                        <a:solidFill>
                          <a:srgbClr val="FFFFFF"/>
                        </a:solidFill>
                        <a:latin typeface="Microsoft YaHei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/>
                        </a:rPr>
                        <a:t>b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Microsoft YaHei"/>
                        </a:rPr>
                        <a:t>inar</a:t>
                      </a:r>
                      <a:r>
                        <a:rPr lang="en-US" altLang="zh-CN" sz="1050" b="1" dirty="0">
                          <a:solidFill>
                            <a:srgbClr val="FFFFFF"/>
                          </a:solidFill>
                          <a:latin typeface="Microsoft YaHei"/>
                        </a:rPr>
                        <a:t>y depth</a:t>
                      </a:r>
                      <a:endParaRPr sz="1050" b="1" dirty="0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anchor="ctr">
                    <a:solidFill>
                      <a:srgbClr val="16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F343B"/>
                          </a:solidFill>
                          <a:latin typeface="Microsoft YaHei"/>
                        </a:rPr>
                        <a:t>N8_K3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F343B"/>
                          </a:solidFill>
                          <a:latin typeface="Microsoft YaHei"/>
                        </a:rP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F343B"/>
                          </a:solidFill>
                          <a:latin typeface="Microsoft YaHei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2F343B"/>
                          </a:solidFill>
                          <a:latin typeface="Microsoft YaHei"/>
                        </a:rPr>
                        <a:t>78</a:t>
                      </a:r>
                      <a:endParaRPr sz="1000" b="0" dirty="0">
                        <a:solidFill>
                          <a:srgbClr val="2F343B"/>
                        </a:solidFill>
                        <a:latin typeface="Microsoft Ya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2F343B"/>
                          </a:solidFill>
                          <a:latin typeface="Microsoft YaHei"/>
                        </a:rPr>
                        <a:t>90</a:t>
                      </a:r>
                      <a:endParaRPr sz="1000" b="0" dirty="0">
                        <a:solidFill>
                          <a:srgbClr val="2F343B"/>
                        </a:solidFill>
                        <a:latin typeface="Microsoft Ya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F343B"/>
                          </a:solidFill>
                          <a:latin typeface="Microsoft YaHei"/>
                        </a:rPr>
                        <a:t>N8_K4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F343B"/>
                          </a:solidFill>
                          <a:latin typeface="Microsoft YaHei"/>
                        </a:rPr>
                        <a:t>32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F343B"/>
                          </a:solidFill>
                          <a:latin typeface="Microsoft YaHei"/>
                        </a:rPr>
                        <a:t>16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2F343B"/>
                          </a:solidFill>
                          <a:latin typeface="Microsoft YaHei"/>
                        </a:rPr>
                        <a:t>99</a:t>
                      </a:r>
                      <a:endParaRPr sz="1000" b="0" dirty="0">
                        <a:solidFill>
                          <a:srgbClr val="2F343B"/>
                        </a:solidFill>
                        <a:latin typeface="Microsoft YaHei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2F343B"/>
                          </a:solidFill>
                          <a:latin typeface="Microsoft YaHei"/>
                        </a:rPr>
                        <a:t>90</a:t>
                      </a:r>
                      <a:endParaRPr sz="1000" b="0" dirty="0">
                        <a:solidFill>
                          <a:srgbClr val="2F343B"/>
                        </a:solidFill>
                        <a:latin typeface="Microsoft YaHei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F343B"/>
                          </a:solidFill>
                          <a:latin typeface="Microsoft YaHei"/>
                        </a:rPr>
                        <a:t>N8_K5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F343B"/>
                          </a:solidFill>
                          <a:latin typeface="Microsoft YaHei"/>
                        </a:rPr>
                        <a:t>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F343B"/>
                          </a:solidFill>
                          <a:latin typeface="Microsoft YaHei"/>
                        </a:rP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2F343B"/>
                          </a:solidFill>
                          <a:latin typeface="Microsoft YaHei"/>
                        </a:rPr>
                        <a:t>120</a:t>
                      </a:r>
                      <a:endParaRPr sz="1000" b="0" dirty="0">
                        <a:solidFill>
                          <a:srgbClr val="2F343B"/>
                        </a:solidFill>
                        <a:latin typeface="Microsoft Ya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2F343B"/>
                          </a:solidFill>
                          <a:latin typeface="Microsoft YaHei"/>
                        </a:rPr>
                        <a:t>138</a:t>
                      </a:r>
                      <a:endParaRPr sz="1000" b="0" dirty="0">
                        <a:solidFill>
                          <a:srgbClr val="2F343B"/>
                        </a:solidFill>
                        <a:latin typeface="Microsoft Ya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F343B"/>
                          </a:solidFill>
                          <a:latin typeface="Microsoft YaHei"/>
                        </a:rPr>
                        <a:t>N10_K4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F343B"/>
                          </a:solidFill>
                          <a:latin typeface="Microsoft YaHei"/>
                        </a:rPr>
                        <a:t>40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F343B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2F343B"/>
                          </a:solidFill>
                          <a:latin typeface="Microsoft YaHei"/>
                        </a:rPr>
                        <a:t>129</a:t>
                      </a:r>
                      <a:endParaRPr sz="1000" b="0" dirty="0">
                        <a:solidFill>
                          <a:srgbClr val="2F343B"/>
                        </a:solidFill>
                        <a:latin typeface="Microsoft YaHei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2F343B"/>
                          </a:solidFill>
                          <a:latin typeface="Microsoft YaHei"/>
                        </a:rPr>
                        <a:t>114</a:t>
                      </a:r>
                      <a:endParaRPr sz="1000" b="0" dirty="0">
                        <a:solidFill>
                          <a:srgbClr val="2F343B"/>
                        </a:solidFill>
                        <a:latin typeface="Microsoft YaHei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1" name="Google Shape;66;p14" title="Logo.png">
            <a:extLst>
              <a:ext uri="{FF2B5EF4-FFF2-40B4-BE49-F238E27FC236}">
                <a16:creationId xmlns:a16="http://schemas.microsoft.com/office/drawing/2014/main" id="{361B46EB-A5CE-C585-2279-298BB83B79B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33100" y="4632374"/>
            <a:ext cx="903176" cy="422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68;p14">
            <a:extLst>
              <a:ext uri="{FF2B5EF4-FFF2-40B4-BE49-F238E27FC236}">
                <a16:creationId xmlns:a16="http://schemas.microsoft.com/office/drawing/2014/main" id="{3A2CA87D-0117-796B-6212-DF771C16706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85" y="4670625"/>
            <a:ext cx="1106765" cy="42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>
            <a:off x="7818120" y="0"/>
            <a:ext cx="1325880" cy="1325880"/>
          </a:xfrm>
          <a:prstGeom prst="rtTriangle">
            <a:avLst/>
          </a:prstGeom>
          <a:solidFill>
            <a:srgbClr val="DF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329184"/>
            <a:ext cx="6675120" cy="384048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lang="en-US" sz="2200" b="1" dirty="0">
                <a:solidFill>
                  <a:srgbClr val="0C2138"/>
                </a:solidFill>
                <a:latin typeface="Aptos"/>
              </a:rPr>
              <a:t>9</a:t>
            </a:r>
            <a:r>
              <a:rPr sz="2200" b="1" dirty="0">
                <a:solidFill>
                  <a:srgbClr val="0C2138"/>
                </a:solidFill>
                <a:latin typeface="Aptos"/>
              </a:rPr>
              <a:t>. Impact: Problem Importance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6583680" cy="201168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950" b="0">
                <a:solidFill>
                  <a:srgbClr val="607080"/>
                </a:solidFill>
                <a:latin typeface="Aptos"/>
              </a:rPr>
              <a:t>Why this matters beyond a toy graph-coloring example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78992"/>
            <a:ext cx="3931920" cy="28666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flipH="1">
            <a:off x="365760" y="1078992"/>
            <a:ext cx="45720" cy="2731008"/>
          </a:xfrm>
          <a:prstGeom prst="rect">
            <a:avLst/>
          </a:prstGeom>
          <a:solidFill>
            <a:srgbClr val="37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1197864"/>
            <a:ext cx="3675888" cy="228600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1350" b="1">
                <a:solidFill>
                  <a:srgbClr val="0C2138"/>
                </a:solidFill>
                <a:latin typeface="Aptos"/>
              </a:rPr>
              <a:t>Problem impact &amp; importance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27632"/>
            <a:ext cx="3246120" cy="1325880"/>
          </a:xfrm>
          <a:prstGeom prst="rect">
            <a:avLst/>
          </a:prstGeom>
          <a:noFill/>
        </p:spPr>
        <p:txBody>
          <a:bodyPr wrap="square" lIns="36576" tIns="9144" rIns="27432">
            <a:spAutoFit/>
          </a:bodyPr>
          <a:lstStyle/>
          <a:p>
            <a:pPr>
              <a:spcAft>
                <a:spcPts val="300"/>
              </a:spcAft>
              <a:defRPr sz="1140">
                <a:solidFill>
                  <a:srgbClr val="1E2935"/>
                </a:solidFill>
                <a:latin typeface="Aptos"/>
              </a:defRPr>
            </a:pPr>
            <a:r>
              <a:t>Better channel reuse means lower co-channel interference in dense deployments.</a:t>
            </a:r>
          </a:p>
          <a:p>
            <a:pPr>
              <a:spcAft>
                <a:spcPts val="300"/>
              </a:spcAft>
              <a:defRPr sz="1140">
                <a:solidFill>
                  <a:srgbClr val="1E2935"/>
                </a:solidFill>
                <a:latin typeface="Aptos"/>
              </a:defRPr>
            </a:pPr>
            <a:r>
              <a:t>Recurring QUBO optimization is a natural model for mobility and traffic shifts.</a:t>
            </a:r>
          </a:p>
          <a:p>
            <a:pPr>
              <a:spcAft>
                <a:spcPts val="300"/>
              </a:spcAft>
              <a:defRPr sz="1140">
                <a:solidFill>
                  <a:srgbClr val="1E2935"/>
                </a:solidFill>
                <a:latin typeface="Aptos"/>
              </a:defRPr>
            </a:pPr>
            <a:r>
              <a:t>The same pipeline can be extended to routing and scheduling.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078992"/>
            <a:ext cx="3931920" cy="28666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800600" y="1078992"/>
            <a:ext cx="45719" cy="2788920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65192" y="1197864"/>
            <a:ext cx="3675888" cy="228600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1350" b="1">
                <a:solidFill>
                  <a:srgbClr val="0C2138"/>
                </a:solidFill>
                <a:latin typeface="Aptos"/>
              </a:rPr>
              <a:t>Why it is not just a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627632"/>
            <a:ext cx="3246120" cy="1325880"/>
          </a:xfrm>
          <a:prstGeom prst="rect">
            <a:avLst/>
          </a:prstGeom>
          <a:noFill/>
        </p:spPr>
        <p:txBody>
          <a:bodyPr wrap="square" lIns="36576" tIns="9144" rIns="27432">
            <a:spAutoFit/>
          </a:bodyPr>
          <a:lstStyle/>
          <a:p>
            <a:pPr>
              <a:spcAft>
                <a:spcPts val="300"/>
              </a:spcAft>
              <a:defRPr sz="1120">
                <a:solidFill>
                  <a:srgbClr val="1E2935"/>
                </a:solidFill>
                <a:latin typeface="Aptos"/>
              </a:defRPr>
            </a:pPr>
            <a:r>
              <a:t>Dense networks are interference-limited, not only bandwidth-limited.</a:t>
            </a:r>
          </a:p>
          <a:p>
            <a:pPr>
              <a:spcAft>
                <a:spcPts val="300"/>
              </a:spcAft>
              <a:defRPr sz="1120">
                <a:solidFill>
                  <a:srgbClr val="1E2935"/>
                </a:solidFill>
                <a:latin typeface="Aptos"/>
              </a:defRPr>
            </a:pPr>
            <a:r>
              <a:t>A solver that can re-optimize quickly is useful when topology and demand keep changing.</a:t>
            </a:r>
          </a:p>
          <a:p>
            <a:pPr>
              <a:spcAft>
                <a:spcPts val="300"/>
              </a:spcAft>
              <a:defRPr sz="1120">
                <a:solidFill>
                  <a:srgbClr val="1E2935"/>
                </a:solidFill>
                <a:latin typeface="Aptos"/>
              </a:defRPr>
            </a:pPr>
            <a:r>
              <a:t>The QUBO abstraction gives a common language across spectrum, routing, and scheduling.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0165" y="4172093"/>
            <a:ext cx="5163589" cy="443198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ctr"/>
            <a:r>
              <a:rPr sz="1320" b="1" dirty="0">
                <a:solidFill>
                  <a:srgbClr val="00707A"/>
                </a:solidFill>
                <a:latin typeface="Aptos"/>
              </a:rPr>
              <a:t>Communication networks repeatedly make resource-allocation decisions under uncertainty.</a:t>
            </a:r>
          </a:p>
        </p:txBody>
      </p:sp>
      <p:pic>
        <p:nvPicPr>
          <p:cNvPr id="18" name="Google Shape;66;p14" title="Logo.png">
            <a:extLst>
              <a:ext uri="{FF2B5EF4-FFF2-40B4-BE49-F238E27FC236}">
                <a16:creationId xmlns:a16="http://schemas.microsoft.com/office/drawing/2014/main" id="{1AA62E83-34EC-E922-9E7D-8F5FB0BDC91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33100" y="4632374"/>
            <a:ext cx="903176" cy="422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68;p14">
            <a:extLst>
              <a:ext uri="{FF2B5EF4-FFF2-40B4-BE49-F238E27FC236}">
                <a16:creationId xmlns:a16="http://schemas.microsoft.com/office/drawing/2014/main" id="{FB5BC8FA-3EF0-63AC-A674-D8CE8683031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85" y="4670625"/>
            <a:ext cx="1106765" cy="42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>
            <a:off x="7818120" y="0"/>
            <a:ext cx="1325880" cy="1325880"/>
          </a:xfrm>
          <a:prstGeom prst="rtTriangle">
            <a:avLst/>
          </a:prstGeom>
          <a:solidFill>
            <a:srgbClr val="DF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329184"/>
            <a:ext cx="6675120" cy="384048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2200" b="1" dirty="0">
                <a:solidFill>
                  <a:srgbClr val="0C2138"/>
                </a:solidFill>
                <a:latin typeface="Aptos"/>
              </a:rPr>
              <a:t>1</a:t>
            </a:r>
            <a:r>
              <a:rPr lang="en-US" sz="2200" b="1" dirty="0">
                <a:solidFill>
                  <a:srgbClr val="0C2138"/>
                </a:solidFill>
                <a:latin typeface="Aptos"/>
              </a:rPr>
              <a:t>0</a:t>
            </a:r>
            <a:r>
              <a:rPr sz="2200" b="1" dirty="0">
                <a:solidFill>
                  <a:srgbClr val="0C2138"/>
                </a:solidFill>
                <a:latin typeface="Aptos"/>
              </a:rPr>
              <a:t>. Business Sustainability &amp;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6583680" cy="201168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950" b="0">
                <a:solidFill>
                  <a:srgbClr val="607080"/>
                </a:solidFill>
                <a:latin typeface="Aptos"/>
              </a:rPr>
              <a:t>Can this be shipped beyond the hackathon?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024128"/>
            <a:ext cx="27432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024128"/>
            <a:ext cx="54864" cy="3520440"/>
          </a:xfrm>
          <a:prstGeom prst="rect">
            <a:avLst/>
          </a:prstGeom>
          <a:solidFill>
            <a:srgbClr val="37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1143000"/>
            <a:ext cx="2487168" cy="228600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1350" b="1">
                <a:solidFill>
                  <a:srgbClr val="0C2138"/>
                </a:solidFill>
                <a:latin typeface="Aptos"/>
              </a:rPr>
              <a:t>Viable product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17904"/>
            <a:ext cx="2212848" cy="1600200"/>
          </a:xfrm>
          <a:prstGeom prst="rect">
            <a:avLst/>
          </a:prstGeom>
          <a:noFill/>
        </p:spPr>
        <p:txBody>
          <a:bodyPr wrap="square" lIns="36576" tIns="9144" rIns="27432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1E2935"/>
                </a:solidFill>
                <a:latin typeface="Aptos"/>
              </a:defRPr>
            </a:pPr>
            <a:r>
              <a:t>Near-term product form: a simulator-backed decision-support tool for network planning.</a:t>
            </a:r>
          </a:p>
          <a:p>
            <a:pPr>
              <a:spcAft>
                <a:spcPts val="300"/>
              </a:spcAft>
              <a:defRPr sz="1019">
                <a:solidFill>
                  <a:srgbClr val="1E2935"/>
                </a:solidFill>
                <a:latin typeface="Aptos"/>
              </a:defRPr>
            </a:pPr>
            <a:r>
              <a:t>Input: base-station locations, channel count, and interference weights.</a:t>
            </a:r>
          </a:p>
          <a:p>
            <a:pPr>
              <a:spcAft>
                <a:spcPts val="300"/>
              </a:spcAft>
              <a:defRPr sz="1019">
                <a:solidFill>
                  <a:srgbClr val="1E2935"/>
                </a:solidFill>
                <a:latin typeface="Aptos"/>
              </a:defRPr>
            </a:pPr>
            <a:r>
              <a:t>Output: channel assignments, interference score, and encoding/resource report.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024128"/>
            <a:ext cx="27432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46120" y="1024128"/>
            <a:ext cx="54864" cy="3520440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10712" y="1143000"/>
            <a:ext cx="2487168" cy="228600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1350" b="1">
                <a:solidFill>
                  <a:srgbClr val="0C2138"/>
                </a:solidFill>
                <a:latin typeface="Aptos"/>
              </a:rPr>
              <a:t>Sustainable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1517904"/>
            <a:ext cx="2212848" cy="1600200"/>
          </a:xfrm>
          <a:prstGeom prst="rect">
            <a:avLst/>
          </a:prstGeom>
          <a:noFill/>
        </p:spPr>
        <p:txBody>
          <a:bodyPr wrap="square" lIns="36576" tIns="9144" rIns="27432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E2935"/>
                </a:solidFill>
                <a:latin typeface="Aptos"/>
              </a:defRPr>
            </a:pPr>
            <a:r>
              <a:t>Hybrid by design: classical graph generation + quantum-inspired/QAOA solver modules.</a:t>
            </a:r>
          </a:p>
          <a:p>
            <a:pPr>
              <a:spcAft>
                <a:spcPts val="300"/>
              </a:spcAft>
              <a:defRPr sz="1000">
                <a:solidFill>
                  <a:srgbClr val="1E2935"/>
                </a:solidFill>
                <a:latin typeface="Aptos"/>
              </a:defRPr>
            </a:pPr>
            <a:r>
              <a:t>Can run with classical baselines today and swap in quantum backends as hardware matures.</a:t>
            </a:r>
          </a:p>
          <a:p>
            <a:pPr>
              <a:spcAft>
                <a:spcPts val="300"/>
              </a:spcAft>
              <a:defRPr sz="1000">
                <a:solidFill>
                  <a:srgbClr val="1E2935"/>
                </a:solidFill>
                <a:latin typeface="Aptos"/>
              </a:defRPr>
            </a:pPr>
            <a:r>
              <a:t>Encoding study gives a practical resource estimator before submitting circuits.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024128"/>
            <a:ext cx="265176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1024128"/>
            <a:ext cx="54864" cy="3520440"/>
          </a:xfrm>
          <a:prstGeom prst="rect">
            <a:avLst/>
          </a:prstGeom>
          <a:solidFill>
            <a:srgbClr val="E2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36792" y="1143000"/>
            <a:ext cx="2395728" cy="228600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1350" b="1">
                <a:solidFill>
                  <a:srgbClr val="0C2138"/>
                </a:solidFill>
                <a:latin typeface="Aptos"/>
              </a:rPr>
              <a:t>Scalability ladder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517904"/>
            <a:ext cx="2103120" cy="1417320"/>
          </a:xfrm>
          <a:prstGeom prst="rect">
            <a:avLst/>
          </a:prstGeom>
          <a:noFill/>
        </p:spPr>
        <p:txBody>
          <a:bodyPr wrap="square" lIns="36576" tIns="9144" rIns="27432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1E2935"/>
                </a:solidFill>
                <a:latin typeface="Aptos"/>
              </a:defRPr>
            </a:pPr>
            <a:r>
              <a:t>Small graphs: brute-force validation.</a:t>
            </a:r>
          </a:p>
          <a:p>
            <a:pPr>
              <a:spcAft>
                <a:spcPts val="300"/>
              </a:spcAft>
              <a:defRPr sz="1019">
                <a:solidFill>
                  <a:srgbClr val="1E2935"/>
                </a:solidFill>
                <a:latin typeface="Aptos"/>
              </a:defRPr>
            </a:pPr>
            <a:r>
              <a:t>Mid-size graphs: binary encoding + simulator.</a:t>
            </a:r>
          </a:p>
          <a:p>
            <a:pPr>
              <a:spcAft>
                <a:spcPts val="300"/>
              </a:spcAft>
              <a:defRPr sz="1019">
                <a:solidFill>
                  <a:srgbClr val="1E2935"/>
                </a:solidFill>
                <a:latin typeface="Aptos"/>
              </a:defRPr>
            </a:pPr>
            <a:r>
              <a:t>Future: GPU/noise-aware simulation and hardware trials.</a:t>
            </a:r>
          </a:p>
        </p:txBody>
      </p:sp>
      <p:pic>
        <p:nvPicPr>
          <p:cNvPr id="22" name="Google Shape;66;p14" title="Logo.png">
            <a:extLst>
              <a:ext uri="{FF2B5EF4-FFF2-40B4-BE49-F238E27FC236}">
                <a16:creationId xmlns:a16="http://schemas.microsoft.com/office/drawing/2014/main" id="{9072FB1C-79AE-BA25-4050-6A23D8986C6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33100" y="4632374"/>
            <a:ext cx="903176" cy="422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68;p14">
            <a:extLst>
              <a:ext uri="{FF2B5EF4-FFF2-40B4-BE49-F238E27FC236}">
                <a16:creationId xmlns:a16="http://schemas.microsoft.com/office/drawing/2014/main" id="{50C9306E-2C00-CE38-7062-71CB85B338B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85" y="4670625"/>
            <a:ext cx="1106765" cy="42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>
            <a:off x="7818120" y="0"/>
            <a:ext cx="1325880" cy="1325880"/>
          </a:xfrm>
          <a:prstGeom prst="rtTriangle">
            <a:avLst/>
          </a:prstGeom>
          <a:solidFill>
            <a:srgbClr val="DF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329184"/>
            <a:ext cx="6675120" cy="384048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2200" b="1" dirty="0">
                <a:solidFill>
                  <a:srgbClr val="0C2138"/>
                </a:solidFill>
                <a:latin typeface="Aptos"/>
              </a:rPr>
              <a:t>1</a:t>
            </a:r>
            <a:r>
              <a:rPr lang="en-US" sz="2200" b="1" dirty="0">
                <a:solidFill>
                  <a:srgbClr val="0C2138"/>
                </a:solidFill>
                <a:latin typeface="Aptos"/>
              </a:rPr>
              <a:t>1</a:t>
            </a:r>
            <a:r>
              <a:rPr sz="2200" b="1" dirty="0">
                <a:solidFill>
                  <a:srgbClr val="0C2138"/>
                </a:solidFill>
                <a:latin typeface="Aptos"/>
              </a:rPr>
              <a:t>.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6583680" cy="201168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950" b="0">
                <a:solidFill>
                  <a:srgbClr val="607080"/>
                </a:solidFill>
                <a:latin typeface="Aptos"/>
              </a:rPr>
              <a:t>A realistic path from hackathon demo to stronger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2542032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54864" cy="3154680"/>
          </a:xfrm>
          <a:prstGeom prst="rect">
            <a:avLst/>
          </a:prstGeom>
          <a:solidFill>
            <a:srgbClr val="37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1261872"/>
            <a:ext cx="2286000" cy="228600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1350" b="1">
                <a:solidFill>
                  <a:srgbClr val="0C2138"/>
                </a:solidFill>
                <a:latin typeface="Aptos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2057400" cy="1425005"/>
          </a:xfrm>
          <a:prstGeom prst="rect">
            <a:avLst/>
          </a:prstGeom>
          <a:noFill/>
        </p:spPr>
        <p:txBody>
          <a:bodyPr wrap="square" lIns="36576" tIns="9144" rIns="27432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1E2935"/>
                </a:solidFill>
                <a:latin typeface="Aptos"/>
              </a:defRPr>
            </a:pPr>
            <a:r>
              <a:rPr sz="1200" dirty="0"/>
              <a:t>Add noise models and hardware-inspired connectivity constraints.</a:t>
            </a:r>
          </a:p>
          <a:p>
            <a:pPr>
              <a:spcAft>
                <a:spcPts val="300"/>
              </a:spcAft>
              <a:defRPr sz="1040">
                <a:solidFill>
                  <a:srgbClr val="1E2935"/>
                </a:solidFill>
                <a:latin typeface="Aptos"/>
              </a:defRPr>
            </a:pPr>
            <a:r>
              <a:rPr sz="1200" dirty="0"/>
              <a:t>Test richer mobility and traffic patterns.</a:t>
            </a:r>
          </a:p>
          <a:p>
            <a:pPr>
              <a:spcAft>
                <a:spcPts val="300"/>
              </a:spcAft>
              <a:defRPr sz="1040">
                <a:solidFill>
                  <a:srgbClr val="1E2935"/>
                </a:solidFill>
                <a:latin typeface="Aptos"/>
              </a:defRPr>
            </a:pPr>
            <a:r>
              <a:rPr sz="1200" dirty="0"/>
              <a:t>Tune penalties automatically instead of hand-setting 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143000"/>
            <a:ext cx="2542032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46120" y="1143000"/>
            <a:ext cx="54864" cy="3154680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10712" y="1261872"/>
            <a:ext cx="2286000" cy="228600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1350" b="1">
                <a:solidFill>
                  <a:srgbClr val="0C2138"/>
                </a:solidFill>
                <a:latin typeface="Aptos"/>
              </a:rPr>
              <a:t>Algorithm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645920"/>
            <a:ext cx="2057400" cy="1554480"/>
          </a:xfrm>
          <a:prstGeom prst="rect">
            <a:avLst/>
          </a:prstGeom>
          <a:noFill/>
        </p:spPr>
        <p:txBody>
          <a:bodyPr wrap="square" lIns="36576" tIns="9144" rIns="27432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spcAft>
                <a:spcPts val="300"/>
              </a:spcAft>
              <a:defRPr sz="1200">
                <a:solidFill>
                  <a:srgbClr val="1E2935"/>
                </a:solidFill>
                <a:latin typeface="Aptos"/>
              </a:defRPr>
            </a:lvl1pPr>
          </a:lstStyle>
          <a:p>
            <a:r>
              <a:rPr dirty="0"/>
              <a:t>Compare warm-start QAOA with stronger classical warm-start baselines.</a:t>
            </a:r>
          </a:p>
          <a:p>
            <a:r>
              <a:rPr dirty="0"/>
              <a:t>Try deeper QAOA and alternative mixers.</a:t>
            </a:r>
          </a:p>
          <a:p>
            <a:r>
              <a:rPr dirty="0"/>
              <a:t>Extend from channel allocation to routing and scheduling QUBOs.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128132"/>
            <a:ext cx="2542032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80760" y="1143000"/>
            <a:ext cx="54864" cy="3154680"/>
          </a:xfrm>
          <a:prstGeom prst="rect">
            <a:avLst/>
          </a:prstGeom>
          <a:solidFill>
            <a:srgbClr val="E2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45352" y="1261872"/>
            <a:ext cx="2286000" cy="228600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1350" b="1">
                <a:solidFill>
                  <a:srgbClr val="0C2138"/>
                </a:solidFill>
                <a:latin typeface="Aptos"/>
              </a:rPr>
              <a:t>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645920"/>
            <a:ext cx="2057400" cy="1554480"/>
          </a:xfrm>
          <a:prstGeom prst="rect">
            <a:avLst/>
          </a:prstGeom>
          <a:noFill/>
        </p:spPr>
        <p:txBody>
          <a:bodyPr wrap="square" lIns="36576" tIns="9144" rIns="27432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spcAft>
                <a:spcPts val="300"/>
              </a:spcAft>
              <a:defRPr sz="1200">
                <a:solidFill>
                  <a:srgbClr val="1E2935"/>
                </a:solidFill>
                <a:latin typeface="Aptos"/>
              </a:defRPr>
            </a:lvl1pPr>
          </a:lstStyle>
          <a:p>
            <a:r>
              <a:rPr dirty="0"/>
              <a:t>Build a small UI/API around the pipeline.</a:t>
            </a:r>
          </a:p>
          <a:p>
            <a:r>
              <a:rPr dirty="0"/>
              <a:t>Export resource reports before quantum execution.</a:t>
            </a:r>
          </a:p>
          <a:p>
            <a:r>
              <a:rPr dirty="0"/>
              <a:t>Run GPU/noise-aware simulation and later hardware trials.</a:t>
            </a:r>
          </a:p>
        </p:txBody>
      </p:sp>
      <p:pic>
        <p:nvPicPr>
          <p:cNvPr id="21" name="Google Shape;66;p14" title="Logo.png">
            <a:extLst>
              <a:ext uri="{FF2B5EF4-FFF2-40B4-BE49-F238E27FC236}">
                <a16:creationId xmlns:a16="http://schemas.microsoft.com/office/drawing/2014/main" id="{55EB590D-9D29-10C5-FCAB-7CD39ED1C8D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33100" y="4632374"/>
            <a:ext cx="903176" cy="422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68;p14">
            <a:extLst>
              <a:ext uri="{FF2B5EF4-FFF2-40B4-BE49-F238E27FC236}">
                <a16:creationId xmlns:a16="http://schemas.microsoft.com/office/drawing/2014/main" id="{3F397BE0-6954-19F8-A601-7D50EA9F9FD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85" y="4670625"/>
            <a:ext cx="1106765" cy="42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842AF48-6620-60E5-2AC0-B332FA814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C87CDE71-0AD5-621A-E547-9012A537DBA0}"/>
              </a:ext>
            </a:extLst>
          </p:cNvPr>
          <p:cNvSpPr txBox="1"/>
          <p:nvPr/>
        </p:nvSpPr>
        <p:spPr>
          <a:xfrm>
            <a:off x="567360" y="2319759"/>
            <a:ext cx="8009279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sz="3600" b="1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Thank You!</a:t>
            </a:r>
            <a:endParaRPr lang="en-US" altLang="zh-CN" sz="3600" b="1" dirty="0">
              <a:solidFill>
                <a:schemeClr val="tx1"/>
              </a:solidFill>
              <a:latin typeface="Aptos"/>
            </a:endParaRPr>
          </a:p>
        </p:txBody>
      </p:sp>
      <p:pic>
        <p:nvPicPr>
          <p:cNvPr id="56" name="Google Shape;56;p13" title="Logo.png">
            <a:extLst>
              <a:ext uri="{FF2B5EF4-FFF2-40B4-BE49-F238E27FC236}">
                <a16:creationId xmlns:a16="http://schemas.microsoft.com/office/drawing/2014/main" id="{0FB737EA-1D07-67F2-0359-9ED7BA8147C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98504" y="76201"/>
            <a:ext cx="2369296" cy="1108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734B5E54-EA41-6EB1-887E-C8607DD907B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00" y="76200"/>
            <a:ext cx="2369301" cy="904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Connector 7">
            <a:extLst>
              <a:ext uri="{FF2B5EF4-FFF2-40B4-BE49-F238E27FC236}">
                <a16:creationId xmlns:a16="http://schemas.microsoft.com/office/drawing/2014/main" id="{BBA8A08F-9899-C5D1-74B0-278A47D60C33}"/>
              </a:ext>
            </a:extLst>
          </p:cNvPr>
          <p:cNvCxnSpPr/>
          <p:nvPr/>
        </p:nvCxnSpPr>
        <p:spPr>
          <a:xfrm flipV="1">
            <a:off x="4109315" y="1059316"/>
            <a:ext cx="473203" cy="294437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8">
            <a:extLst>
              <a:ext uri="{FF2B5EF4-FFF2-40B4-BE49-F238E27FC236}">
                <a16:creationId xmlns:a16="http://schemas.microsoft.com/office/drawing/2014/main" id="{33C5AB28-66F4-A62B-A576-13E69F12E88F}"/>
              </a:ext>
            </a:extLst>
          </p:cNvPr>
          <p:cNvCxnSpPr/>
          <p:nvPr/>
        </p:nvCxnSpPr>
        <p:spPr>
          <a:xfrm>
            <a:off x="4582518" y="1059316"/>
            <a:ext cx="452170" cy="336500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9">
            <a:extLst>
              <a:ext uri="{FF2B5EF4-FFF2-40B4-BE49-F238E27FC236}">
                <a16:creationId xmlns:a16="http://schemas.microsoft.com/office/drawing/2014/main" id="{F15F1107-DEAC-922F-7416-7AE4659CE68A}"/>
              </a:ext>
            </a:extLst>
          </p:cNvPr>
          <p:cNvCxnSpPr/>
          <p:nvPr/>
        </p:nvCxnSpPr>
        <p:spPr>
          <a:xfrm flipH="1">
            <a:off x="4593033" y="1395816"/>
            <a:ext cx="441655" cy="378561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10">
            <a:extLst>
              <a:ext uri="{FF2B5EF4-FFF2-40B4-BE49-F238E27FC236}">
                <a16:creationId xmlns:a16="http://schemas.microsoft.com/office/drawing/2014/main" id="{0C03EB38-E0F7-371A-44F6-0C6322FD7AF8}"/>
              </a:ext>
            </a:extLst>
          </p:cNvPr>
          <p:cNvCxnSpPr/>
          <p:nvPr/>
        </p:nvCxnSpPr>
        <p:spPr>
          <a:xfrm flipH="1" flipV="1">
            <a:off x="4109315" y="1353753"/>
            <a:ext cx="483718" cy="420624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11">
            <a:extLst>
              <a:ext uri="{FF2B5EF4-FFF2-40B4-BE49-F238E27FC236}">
                <a16:creationId xmlns:a16="http://schemas.microsoft.com/office/drawing/2014/main" id="{CF0E5847-FA11-2314-936F-DAECA11DF141}"/>
              </a:ext>
            </a:extLst>
          </p:cNvPr>
          <p:cNvCxnSpPr/>
          <p:nvPr/>
        </p:nvCxnSpPr>
        <p:spPr>
          <a:xfrm>
            <a:off x="4109315" y="1353753"/>
            <a:ext cx="925373" cy="42063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12">
            <a:extLst>
              <a:ext uri="{FF2B5EF4-FFF2-40B4-BE49-F238E27FC236}">
                <a16:creationId xmlns:a16="http://schemas.microsoft.com/office/drawing/2014/main" id="{75F25ACA-DBDE-9BA0-F3B7-A98FDCF01BA4}"/>
              </a:ext>
            </a:extLst>
          </p:cNvPr>
          <p:cNvCxnSpPr/>
          <p:nvPr/>
        </p:nvCxnSpPr>
        <p:spPr>
          <a:xfrm>
            <a:off x="4582518" y="1059316"/>
            <a:ext cx="10515" cy="715061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13">
            <a:extLst>
              <a:ext uri="{FF2B5EF4-FFF2-40B4-BE49-F238E27FC236}">
                <a16:creationId xmlns:a16="http://schemas.microsoft.com/office/drawing/2014/main" id="{2DCB71D1-6D18-88CA-A565-930D1066347F}"/>
              </a:ext>
            </a:extLst>
          </p:cNvPr>
          <p:cNvSpPr/>
          <p:nvPr/>
        </p:nvSpPr>
        <p:spPr>
          <a:xfrm>
            <a:off x="4030449" y="1274886"/>
            <a:ext cx="157734" cy="157734"/>
          </a:xfrm>
          <a:prstGeom prst="ellipse">
            <a:avLst/>
          </a:prstGeom>
          <a:solidFill>
            <a:srgbClr val="00A3A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4">
            <a:extLst>
              <a:ext uri="{FF2B5EF4-FFF2-40B4-BE49-F238E27FC236}">
                <a16:creationId xmlns:a16="http://schemas.microsoft.com/office/drawing/2014/main" id="{40246CCE-75AC-F7FD-97FA-39AA4FEEE209}"/>
              </a:ext>
            </a:extLst>
          </p:cNvPr>
          <p:cNvSpPr/>
          <p:nvPr/>
        </p:nvSpPr>
        <p:spPr>
          <a:xfrm>
            <a:off x="4503651" y="980450"/>
            <a:ext cx="157734" cy="157734"/>
          </a:xfrm>
          <a:prstGeom prst="ellipse">
            <a:avLst/>
          </a:prstGeom>
          <a:solidFill>
            <a:srgbClr val="E28232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5">
            <a:extLst>
              <a:ext uri="{FF2B5EF4-FFF2-40B4-BE49-F238E27FC236}">
                <a16:creationId xmlns:a16="http://schemas.microsoft.com/office/drawing/2014/main" id="{362B13D7-4D8D-6F4B-32DC-FBF50D8B6125}"/>
              </a:ext>
            </a:extLst>
          </p:cNvPr>
          <p:cNvSpPr/>
          <p:nvPr/>
        </p:nvSpPr>
        <p:spPr>
          <a:xfrm>
            <a:off x="4955821" y="1316949"/>
            <a:ext cx="157734" cy="157734"/>
          </a:xfrm>
          <a:prstGeom prst="ellipse">
            <a:avLst/>
          </a:prstGeom>
          <a:solidFill>
            <a:srgbClr val="379C68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6">
            <a:extLst>
              <a:ext uri="{FF2B5EF4-FFF2-40B4-BE49-F238E27FC236}">
                <a16:creationId xmlns:a16="http://schemas.microsoft.com/office/drawing/2014/main" id="{130E7F01-AAAD-8CEF-5FD4-5FADE25ABED7}"/>
              </a:ext>
            </a:extLst>
          </p:cNvPr>
          <p:cNvSpPr/>
          <p:nvPr/>
        </p:nvSpPr>
        <p:spPr>
          <a:xfrm>
            <a:off x="4514166" y="1695510"/>
            <a:ext cx="157734" cy="157734"/>
          </a:xfrm>
          <a:prstGeom prst="ellipse">
            <a:avLst/>
          </a:prstGeom>
          <a:solidFill>
            <a:srgbClr val="F6BE4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7">
            <a:extLst>
              <a:ext uri="{FF2B5EF4-FFF2-40B4-BE49-F238E27FC236}">
                <a16:creationId xmlns:a16="http://schemas.microsoft.com/office/drawing/2014/main" id="{63EF0928-7A44-BE5A-0B84-7F28FBB93321}"/>
              </a:ext>
            </a:extLst>
          </p:cNvPr>
          <p:cNvSpPr txBox="1"/>
          <p:nvPr/>
        </p:nvSpPr>
        <p:spPr>
          <a:xfrm>
            <a:off x="4167171" y="1918956"/>
            <a:ext cx="1254532" cy="169598"/>
          </a:xfrm>
          <a:prstGeom prst="rect">
            <a:avLst/>
          </a:prstGeom>
          <a:noFill/>
        </p:spPr>
        <p:txBody>
          <a:bodyPr wrap="square" lIns="45720" tIns="18288" rIns="36576" bIns="18288" anchor="t">
            <a:spAutoFit/>
          </a:bodyPr>
          <a:lstStyle/>
          <a:p>
            <a:pPr algn="l"/>
            <a:r>
              <a:rPr sz="862" b="1" dirty="0">
                <a:solidFill>
                  <a:schemeClr val="tx1"/>
                </a:solidFill>
                <a:latin typeface="Aptos"/>
              </a:rPr>
              <a:t>The</a:t>
            </a:r>
            <a:r>
              <a:rPr lang="en-US" sz="862" b="1" dirty="0">
                <a:solidFill>
                  <a:schemeClr val="tx1"/>
                </a:solidFill>
                <a:latin typeface="Aptos"/>
              </a:rPr>
              <a:t> </a:t>
            </a:r>
            <a:r>
              <a:rPr sz="862" b="1" dirty="0">
                <a:solidFill>
                  <a:schemeClr val="tx1"/>
                </a:solidFill>
                <a:latin typeface="Aptos"/>
              </a:rPr>
              <a:t>Entanglers</a:t>
            </a:r>
          </a:p>
        </p:txBody>
      </p:sp>
    </p:spTree>
    <p:extLst>
      <p:ext uri="{BB962C8B-B14F-4D97-AF65-F5344CB8AC3E}">
        <p14:creationId xmlns:p14="http://schemas.microsoft.com/office/powerpoint/2010/main" val="183996433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914</Words>
  <Application>Microsoft Office PowerPoint</Application>
  <PresentationFormat>全屏显示(16:9)</PresentationFormat>
  <Paragraphs>160</Paragraphs>
  <Slides>13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Aptos</vt:lpstr>
      <vt:lpstr>Microsoft YaHei</vt:lpstr>
      <vt:lpstr>Cambria Math</vt:lpstr>
      <vt:lpstr>Roboto</vt:lpstr>
      <vt:lpstr>Arial</vt:lpstr>
      <vt:lpstr>Simple Light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chendj</dc:creator>
  <cp:lastModifiedBy>德健 陈</cp:lastModifiedBy>
  <cp:revision>11</cp:revision>
  <dcterms:modified xsi:type="dcterms:W3CDTF">2026-06-30T14:10:48Z</dcterms:modified>
</cp:coreProperties>
</file>